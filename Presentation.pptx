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662" autoAdjust="0"/>
  </p:normalViewPr>
  <p:slideViewPr>
    <p:cSldViewPr snapToGrid="0">
      <p:cViewPr varScale="1">
        <p:scale>
          <a:sx n="72" d="100"/>
          <a:sy n="72" d="100"/>
        </p:scale>
        <p:origin x="107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docs/MODERN_VILLA_XR_FINAL_REPORT.md, sections 1 et 15. Image : Evidence/final-polish/after/pool-terrace.png. La capture provient d’une caméra Unity, pas d’un Quest 3 autonome. Auteur du projet : [TO COMPLETE].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docs/MODERN_VILLA_XR_FINAL_REPORT.md, sections 1 et 2 ; brief Journey Through XR, concept Virtual Tour &amp; Virtual Open House. Image : Evidence/final-polish/after/exterior-front.png. La valeur spatiale est l’objectif produit, pas un résultat d’étude utilisateur mesuré.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 Assets/CampusExplorer/Scenes/MainMenu.unity ; Assets/CampusExplorer/Runtime/MainMenuManager.cs ; Evidence/main-menu-controls-tests.xml ; docs/MODERN_VILLA_XR_FINAL_REPORT.md, sections 3 et 5. Image : Evidence/main-menu-preview.png. La lisibilité du menu dans le dernier APK autonome reste [NOT VERIFIED].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 Assets/CampusExplorer/Runtime/XRGuidedTour.cs ; Assets/CampusExplorer/Editor/ModernVillaPoiPass.cs ; Evidence/modern-villa-poi-pass.md ; docs/MODERN_VILLA_XR_FINAL_REPORT.md, sections 3 et 4. Les noms dans l’application sont en anglais : Kitchen, Living Room, Dining Room, Master Bedroom, Bathroom, Pool / Terrace. Image : Evidence/final-polish/after/living-room.png.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 Assets/CampusExplorer/Runtime/XRRoomMenu.cs ; Assets/CampusExplorer/Runtime/XRRoomTeleporter.cs ; Assets/CampusExplorer/Runtime/XRGuidedTour.cs ; Evidence/final-polish/placement-audit.txt ; Evidence/main-menu-controls-tests.xml ; docs/MODERN_VILLA_XR_FINAL_REPORT.md, section 9. Image : Evidence/final-polish/after/master-bedroom.png. Les placements de six arrivées ont été précontrôlés dans Unity, pas validés physiquement sur le dernier APK autonome.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 Evidence/modern-villa-poi-pass.md ; Evidence/interactive-light-switches.md ; Evidence/interactive-doors-report.md ; Evidence/grabbable-props/apply-report.txt ; docs/MODERN_VILLA_XR_FINAL_REPORT.md, section 4. Image : Evidence/final-polish/after/dining-room.png. Le maniement des objets dans le dernier APK Quest 3 autonome reste [NOT VERIFIED].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 ProjectSettings/ProjectVersion.txt ; Packages/manifest.json ; Evidence/modern-villa-final-collision-audit/FINAL_COLLISION_AUDIT.md ; Evidence/navigation-observation-fix/navigation-audit.md ; Evidence/grabbable-props/apply-report.txt ; docs/MODERN_VILLA_XR_FINAL_REPORT.md, sections 6 et 7. Les 178 BoxColliders sont sérialisés dans la scène actuelle. Image : Evidence/final-polish/after/garden-pavilion.png. La fluidité réelle sur Quest 3 autonome n’a pas été mesurée.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 Evidence/visual-stabilization/visual-stabilization-report.md ; Evidence/final-polish/final-polish-report.md ; docs/MODERN_VILLA_XR_FINAL_REPORT.md, section 8. Images : Evidence/final-polish/before/kitchen.png et Evidence/final-polish/after/kitchen.png, même cadrage Unity. Cette comparaison ne prouve ni l’équivalence avec les rendus hors ligne ni les performances sur Quest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 Evidence/grabbable-props/tour-playmode-results.xml ; Evidence/navigation-observation-fix/navigation-audit.md ; Evidence/grabbable-props/playmode-results.xml ; Evidence/main-menu-controls-tests.xml ; Evidence/grabbable-props/full-playmode-results.xml ; Evidence/grabbable-props/android-build-final-unity.log ; docs/MODERN_VILLA_XR_FINAL_REPORT.md, section 10. L’auteur a confirmé le 25 septembre 2026 avoir testé avec Meta Quest via Quest Link et indique que tout fonctionnait pendant cet essai ; aucune liste de contrôle ni mesure FPS n’a été fournie pour ce retour. Le dernier APK n’a pas été testé en mode autonome. Au moment de cette mise à jour, le fichier final CampusExplorerXR-Quest3.apk n’était pas présent dans Builds/Quest3 ; seules des copies before-* étaient disponibles.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 docs/MODERN_VILLA_XR_FINAL_REPORT.md, sections 10 à 15 ; fiche CGTrader du modèle #6876788 https://www.cgtrader.com/free-3d-models/architectural/other/modern-luxury-villa-furnished-and-animated-blender-5 ; conditions CGTrader https://www.cgtrader.com/pages/terms-and-conditions (sections 2.1, 18.5–18.6, 20.4, 21A, 21B et 24) ; Evidence/modern-villa-audit/source-audit.json ; Assets/CampusExplorer/Editor/MainMenuSceneBuilder.cs. Auteur du projet [TO COMPLETE]. Villa Modern Luxury Villa / Modern_Residence_Interior.fbx : créateur indiqué acrts076, licence Royalty Free License (no AI). La licence du modèle permet des rendus promotionnels créés par l’utilisateur, mais ne fournit pas une autorisation de republier la vidéo d’aperçu publiée par le vendeur. Avant réutilisation de cette vidéo, demander un accord écrit précisant supports, montage, durée, crédit et droits musicaux. HDRI Horn-koppe Spring par Grzegorz Wronkowski (Poly Haven, CC0) : https://polyhaven.com/a/horn-koppe_spring ; Asphalt 07 par Charlotte Baglioni (Poly Haven, CC0) : https://polyhaven.com/a/asphalt_07 ; Book Pattern par Rob Tuytel (Poly Haven, CC0) : https://polyhaven.com/a/book_pattern ; Asphalt 031 par ambientCG (CC0) : https://ambientcg.com/view?id=Asphalt031. Identité exacte de certains fichiers de textures et droits d’autres contenus tiers du paquet [NOT VERIFIED]. Aucun audio de narration n’est intégré actuellement. L’auteur a indiqué le 25 septembre 2026 disposer d’une vidéo hors du dossier du projet ; son chemin, son origine et son contenu n’ont pas été communiqués ni inspectés.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pic>
        <p:nvPicPr>
          <p:cNvPr id="5" name="Image 4"/>
          <p:cNvPicPr>
            <a:picLocks noChangeAspect="1"/>
          </p:cNvPicPr>
          <p:nvPr/>
        </p:nvPicPr>
        <p:blipFill>
          <a:blip r:embed="rId3"/>
          <a:srcRect l="24219" r="24219"/>
          <a:stretch>
            <a:fillRect/>
          </a:stretch>
        </p:blipFill>
        <p:spPr>
          <a:xfrm>
            <a:off x="5905500" y="0"/>
            <a:ext cx="6286500" cy="6858000"/>
          </a:xfrm>
          <a:prstGeom prst="rect">
            <a:avLst/>
          </a:prstGeom>
        </p:spPr>
      </p:pic>
      <p:sp>
        <p:nvSpPr>
          <p:cNvPr id="2" name="cover-title">
            <a:extLst>
              <a:ext uri="{FF2B5EF4-FFF2-40B4-BE49-F238E27FC236}">
                <a16:creationId xmlns:a16="http://schemas.microsoft.com/office/drawing/2014/main" id="{A647063D-0324-4ACC-96FD-1CA88EC45FCA}"/>
              </a:ext>
            </a:extLst>
          </p:cNvPr>
          <p:cNvSpPr>
            <a:spLocks noGrp="1"/>
          </p:cNvSpPr>
          <p:nvPr/>
        </p:nvSpPr>
        <p:spPr>
          <a:xfrm>
            <a:off x="685800" y="1609725"/>
            <a:ext cx="4857750" cy="1676400"/>
          </a:xfrm>
          <a:prstGeom prst="rect">
            <a:avLst/>
          </a:prstGeom>
          <a:noFill/>
          <a:ln w="0">
            <a:noFill/>
          </a:ln>
        </p:spPr>
        <p:txBody>
          <a:bodyPr wrap="square" lIns="0" tIns="0" rIns="0" bIns="0" anchor="t">
            <a:noAutofit/>
          </a:bodyPr>
          <a:lstStyle/>
          <a:p>
            <a:pPr algn="l">
              <a:defRPr sz="4425" b="1">
                <a:solidFill>
                  <a:srgbClr val="FFFFFF"/>
                </a:solidFill>
                <a:latin typeface="Arial"/>
                <a:ea typeface="Arial"/>
                <a:cs typeface="Arial"/>
              </a:defRPr>
            </a:pPr>
            <a:r>
              <a:rPr sz="4425" b="1">
                <a:solidFill>
                  <a:srgbClr val="FFFFFF"/>
                </a:solidFill>
                <a:latin typeface="Arial"/>
                <a:ea typeface="Arial"/>
                <a:cs typeface="Arial"/>
              </a:rPr>
              <a:t>MODERN</a:t>
            </a:r>
          </a:p>
          <a:p>
            <a:pPr algn="l">
              <a:defRPr sz="4425" b="1">
                <a:solidFill>
                  <a:srgbClr val="FFFFFF"/>
                </a:solidFill>
                <a:latin typeface="Arial"/>
                <a:ea typeface="Arial"/>
                <a:cs typeface="Arial"/>
              </a:defRPr>
            </a:pPr>
            <a:r>
              <a:rPr sz="4425" b="1">
                <a:solidFill>
                  <a:srgbClr val="FFFFFF"/>
                </a:solidFill>
                <a:latin typeface="Arial"/>
                <a:ea typeface="Arial"/>
                <a:cs typeface="Arial"/>
              </a:rPr>
              <a:t>VILLA XR</a:t>
            </a:r>
          </a:p>
        </p:txBody>
      </p:sp>
      <p:sp>
        <p:nvSpPr>
          <p:cNvPr id="3" name="cover-subtitle">
            <a:extLst>
              <a:ext uri="{FF2B5EF4-FFF2-40B4-BE49-F238E27FC236}">
                <a16:creationId xmlns:a16="http://schemas.microsoft.com/office/drawing/2014/main" id="{B8DED19E-873F-4008-9307-F38C824E15BC}"/>
              </a:ext>
            </a:extLst>
          </p:cNvPr>
          <p:cNvSpPr>
            <a:spLocks noGrp="1"/>
          </p:cNvSpPr>
          <p:nvPr/>
        </p:nvSpPr>
        <p:spPr>
          <a:xfrm>
            <a:off x="685800" y="3600450"/>
            <a:ext cx="4762500" cy="419100"/>
          </a:xfrm>
          <a:prstGeom prst="rect">
            <a:avLst/>
          </a:prstGeom>
          <a:noFill/>
          <a:ln w="0">
            <a:noFill/>
          </a:ln>
        </p:spPr>
        <p:txBody>
          <a:bodyPr wrap="square" lIns="0" tIns="0" rIns="0" bIns="0" anchor="t">
            <a:noAutofit/>
          </a:bodyPr>
          <a:lstStyle/>
          <a:p>
            <a:pPr algn="l">
              <a:defRPr sz="2100" b="0">
                <a:solidFill>
                  <a:srgbClr val="DCE8EE"/>
                </a:solidFill>
                <a:latin typeface="Arial"/>
                <a:ea typeface="Arial"/>
                <a:cs typeface="Arial"/>
              </a:defRPr>
            </a:pPr>
            <a:r>
              <a:rPr sz="2100" b="0">
                <a:solidFill>
                  <a:srgbClr val="DCE8EE"/>
                </a:solidFill>
                <a:latin typeface="Arial"/>
                <a:ea typeface="Arial"/>
                <a:cs typeface="Arial"/>
              </a:rPr>
              <a:t>Virtual Open House Experience</a:t>
            </a:r>
          </a:p>
        </p:txBody>
      </p:sp>
      <p:sp>
        <p:nvSpPr>
          <p:cNvPr id="4" name="cover-context">
            <a:extLst>
              <a:ext uri="{FF2B5EF4-FFF2-40B4-BE49-F238E27FC236}">
                <a16:creationId xmlns:a16="http://schemas.microsoft.com/office/drawing/2014/main" id="{171341BE-62A0-4227-8DD2-F57672203035}"/>
              </a:ext>
            </a:extLst>
          </p:cNvPr>
          <p:cNvSpPr>
            <a:spLocks noGrp="1"/>
          </p:cNvSpPr>
          <p:nvPr/>
        </p:nvSpPr>
        <p:spPr>
          <a:xfrm>
            <a:off x="685800" y="5410200"/>
            <a:ext cx="4762500" cy="590550"/>
          </a:xfrm>
          <a:prstGeom prst="rect">
            <a:avLst/>
          </a:prstGeom>
          <a:noFill/>
          <a:ln w="0">
            <a:noFill/>
          </a:ln>
        </p:spPr>
        <p:txBody>
          <a:bodyPr wrap="square" lIns="0" tIns="0" rIns="0" bIns="0" anchor="t">
            <a:noAutofit/>
          </a:bodyPr>
          <a:lstStyle/>
          <a:p>
            <a:pPr algn="l">
              <a:defRPr sz="1500" b="0">
                <a:solidFill>
                  <a:srgbClr val="DCE8EE"/>
                </a:solidFill>
                <a:latin typeface="Arial"/>
                <a:ea typeface="Arial"/>
                <a:cs typeface="Arial"/>
              </a:defRPr>
            </a:pPr>
            <a:r>
              <a:rPr sz="1500" b="0">
                <a:solidFill>
                  <a:srgbClr val="DCE8EE"/>
                </a:solidFill>
                <a:latin typeface="Arial"/>
                <a:ea typeface="Arial"/>
                <a:cs typeface="Arial"/>
              </a:rPr>
              <a:t>Projet Journey Through XR</a:t>
            </a:r>
          </a:p>
          <a:p>
            <a:pPr algn="l">
              <a:defRPr sz="1500" b="0">
                <a:solidFill>
                  <a:srgbClr val="DCE8EE"/>
                </a:solidFill>
                <a:latin typeface="Arial"/>
                <a:ea typeface="Arial"/>
                <a:cs typeface="Arial"/>
              </a:defRPr>
            </a:pPr>
            <a:r>
              <a:rPr sz="1500" b="0">
                <a:solidFill>
                  <a:srgbClr val="DCE8EE"/>
                </a:solidFill>
                <a:latin typeface="Arial"/>
                <a:ea typeface="Arial"/>
                <a:cs typeface="Arial"/>
              </a:rPr>
              <a:t>État au 24 septembre 2026</a:t>
            </a:r>
          </a:p>
        </p:txBody>
      </p:sp>
    </p:spTree>
    <p:extLst>
      <p:ext uri="{BB962C8B-B14F-4D97-AF65-F5344CB8AC3E}">
        <p14:creationId xmlns:p14="http://schemas.microsoft.com/office/powerpoint/2010/main" val="131306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7F6"/>
        </a:solidFill>
        <a:effectLst/>
      </p:bgPr>
    </p:bg>
    <p:spTree>
      <p:nvGrpSpPr>
        <p:cNvPr id="1" name=""/>
        <p:cNvGrpSpPr/>
        <p:nvPr/>
      </p:nvGrpSpPr>
      <p:grpSpPr>
        <a:xfrm>
          <a:off x="0" y="0"/>
          <a:ext cx="0" cy="0"/>
          <a:chOff x="0" y="0"/>
          <a:chExt cx="0" cy="0"/>
        </a:xfrm>
      </p:grpSpPr>
      <p:sp>
        <p:nvSpPr>
          <p:cNvPr id="8" name="title-Pourquoi une visite immobilière en VR ?">
            <a:extLst>
              <a:ext uri="{FF2B5EF4-FFF2-40B4-BE49-F238E27FC236}">
                <a16:creationId xmlns:a16="http://schemas.microsoft.com/office/drawing/2014/main" id="{0AABA210-69E7-4553-A861-0C92499CF17E}"/>
              </a:ext>
            </a:extLst>
          </p:cNvPr>
          <p:cNvSpPr>
            <a:spLocks noGrp="1"/>
          </p:cNvSpPr>
          <p:nvPr/>
        </p:nvSpPr>
        <p:spPr>
          <a:xfrm>
            <a:off x="685800" y="552450"/>
            <a:ext cx="10820400" cy="723900"/>
          </a:xfrm>
          <a:prstGeom prst="rect">
            <a:avLst/>
          </a:prstGeom>
          <a:noFill/>
          <a:ln w="0">
            <a:noFill/>
          </a:ln>
        </p:spPr>
        <p:txBody>
          <a:bodyPr wrap="square" lIns="0" tIns="0" rIns="0" bIns="0" anchor="t">
            <a:noAutofit/>
          </a:bodyPr>
          <a:lstStyle/>
          <a:p>
            <a:pPr algn="l">
              <a:defRPr sz="3225" b="1">
                <a:solidFill>
                  <a:srgbClr val="17232D"/>
                </a:solidFill>
                <a:latin typeface="Arial"/>
                <a:ea typeface="Arial"/>
                <a:cs typeface="Arial"/>
              </a:defRPr>
            </a:pPr>
            <a:r>
              <a:rPr sz="3225" b="1">
                <a:solidFill>
                  <a:srgbClr val="17232D"/>
                </a:solidFill>
                <a:latin typeface="Arial"/>
                <a:ea typeface="Arial"/>
                <a:cs typeface="Arial"/>
              </a:rPr>
              <a:t>Pourquoi une visite immobilière en VR ?</a:t>
            </a:r>
          </a:p>
        </p:txBody>
      </p:sp>
      <p:sp>
        <p:nvSpPr>
          <p:cNvPr id="2" name="need-1">
            <a:extLst>
              <a:ext uri="{FF2B5EF4-FFF2-40B4-BE49-F238E27FC236}">
                <a16:creationId xmlns:a16="http://schemas.microsoft.com/office/drawing/2014/main" id="{8A344B69-A157-4F50-8157-91D38B5D8ABA}"/>
              </a:ext>
            </a:extLst>
          </p:cNvPr>
          <p:cNvSpPr>
            <a:spLocks noGrp="1"/>
          </p:cNvSpPr>
          <p:nvPr/>
        </p:nvSpPr>
        <p:spPr>
          <a:xfrm>
            <a:off x="685800" y="1695450"/>
            <a:ext cx="4857750" cy="647700"/>
          </a:xfrm>
          <a:prstGeom prst="rect">
            <a:avLst/>
          </a:prstGeom>
          <a:noFill/>
          <a:ln w="0">
            <a:noFill/>
          </a:ln>
        </p:spPr>
        <p:txBody>
          <a:bodyPr wrap="square" lIns="0" tIns="0" rIns="0" bIns="0" anchor="t">
            <a:noAutofit/>
          </a:bodyPr>
          <a:lstStyle/>
          <a:p>
            <a:pPr algn="l">
              <a:defRPr sz="2025" b="1">
                <a:solidFill>
                  <a:srgbClr val="17232D"/>
                </a:solidFill>
                <a:latin typeface="Arial"/>
                <a:ea typeface="Arial"/>
                <a:cs typeface="Arial"/>
              </a:defRPr>
            </a:pPr>
            <a:r>
              <a:rPr sz="2025" b="1">
                <a:solidFill>
                  <a:srgbClr val="17232D"/>
                </a:solidFill>
                <a:latin typeface="Arial"/>
                <a:ea typeface="Arial"/>
                <a:cs typeface="Arial"/>
              </a:rPr>
              <a:t>Photos, vidéos et plans montrent la propriété.</a:t>
            </a:r>
          </a:p>
        </p:txBody>
      </p:sp>
      <p:sp>
        <p:nvSpPr>
          <p:cNvPr id="3" name="need-2">
            <a:extLst>
              <a:ext uri="{FF2B5EF4-FFF2-40B4-BE49-F238E27FC236}">
                <a16:creationId xmlns:a16="http://schemas.microsoft.com/office/drawing/2014/main" id="{E77FE8DB-AB05-484C-9DCF-608A9567D070}"/>
              </a:ext>
            </a:extLst>
          </p:cNvPr>
          <p:cNvSpPr>
            <a:spLocks noGrp="1"/>
          </p:cNvSpPr>
          <p:nvPr/>
        </p:nvSpPr>
        <p:spPr>
          <a:xfrm>
            <a:off x="685800" y="2619375"/>
            <a:ext cx="4857750" cy="1066800"/>
          </a:xfrm>
          <a:prstGeom prst="rect">
            <a:avLst/>
          </a:prstGeom>
          <a:noFill/>
          <a:ln w="0">
            <a:noFill/>
          </a:ln>
        </p:spPr>
        <p:txBody>
          <a:bodyPr wrap="square" lIns="0" tIns="0" rIns="0" bIns="0" anchor="t">
            <a:noAutofit/>
          </a:bodyPr>
          <a:lstStyle/>
          <a:p>
            <a:pPr algn="l">
              <a:defRPr sz="1875" b="0">
                <a:solidFill>
                  <a:srgbClr val="4C6574"/>
                </a:solidFill>
                <a:latin typeface="Arial"/>
                <a:ea typeface="Arial"/>
                <a:cs typeface="Arial"/>
              </a:defRPr>
            </a:pPr>
            <a:r>
              <a:rPr sz="1875" b="0">
                <a:solidFill>
                  <a:srgbClr val="4C6574"/>
                </a:solidFill>
                <a:latin typeface="Arial"/>
                <a:ea typeface="Arial"/>
                <a:cs typeface="Arial"/>
              </a:rPr>
              <a:t>Ils restituent moins directement les volumes et les circulations ressentis sur place.</a:t>
            </a:r>
          </a:p>
        </p:txBody>
      </p:sp>
      <p:sp>
        <p:nvSpPr>
          <p:cNvPr id="4" name="need-3">
            <a:extLst>
              <a:ext uri="{FF2B5EF4-FFF2-40B4-BE49-F238E27FC236}">
                <a16:creationId xmlns:a16="http://schemas.microsoft.com/office/drawing/2014/main" id="{FDD9DC5C-EC1C-4FCB-9329-8466BDC39E2B}"/>
              </a:ext>
            </a:extLst>
          </p:cNvPr>
          <p:cNvSpPr>
            <a:spLocks noGrp="1"/>
          </p:cNvSpPr>
          <p:nvPr/>
        </p:nvSpPr>
        <p:spPr>
          <a:xfrm>
            <a:off x="685800" y="4191000"/>
            <a:ext cx="4857750" cy="1143000"/>
          </a:xfrm>
          <a:prstGeom prst="rect">
            <a:avLst/>
          </a:prstGeom>
          <a:noFill/>
          <a:ln w="0">
            <a:noFill/>
          </a:ln>
        </p:spPr>
        <p:txBody>
          <a:bodyPr wrap="square" lIns="0" tIns="0" rIns="0" bIns="0" anchor="t">
            <a:noAutofit/>
          </a:bodyPr>
          <a:lstStyle/>
          <a:p>
            <a:pPr algn="l">
              <a:defRPr sz="2100" b="1">
                <a:solidFill>
                  <a:srgbClr val="267DB1"/>
                </a:solidFill>
                <a:latin typeface="Arial"/>
                <a:ea typeface="Arial"/>
                <a:cs typeface="Arial"/>
              </a:defRPr>
            </a:pPr>
            <a:r>
              <a:rPr sz="2100" b="1">
                <a:solidFill>
                  <a:srgbClr val="267DB1"/>
                </a:solidFill>
                <a:latin typeface="Arial"/>
                <a:ea typeface="Arial"/>
                <a:cs typeface="Arial"/>
              </a:rPr>
              <a:t>Modern Villa XR propose une exploration immersive, libre ou guidée.</a:t>
            </a:r>
          </a:p>
        </p:txBody>
      </p:sp>
      <p:pic>
        <p:nvPicPr>
          <p:cNvPr id="12" name="Image 11"/>
          <p:cNvPicPr>
            <a:picLocks noChangeAspect="1"/>
          </p:cNvPicPr>
          <p:nvPr/>
        </p:nvPicPr>
        <p:blipFill>
          <a:blip r:embed="rId3"/>
          <a:srcRect l="19" r="19"/>
          <a:stretch>
            <a:fillRect/>
          </a:stretch>
        </p:blipFill>
        <p:spPr>
          <a:xfrm>
            <a:off x="6038850" y="1657350"/>
            <a:ext cx="5467350" cy="3076575"/>
          </a:xfrm>
          <a:prstGeom prst="rect">
            <a:avLst/>
          </a:prstGeom>
        </p:spPr>
      </p:pic>
      <p:sp>
        <p:nvSpPr>
          <p:cNvPr id="6" name="concept-foot">
            <a:extLst>
              <a:ext uri="{FF2B5EF4-FFF2-40B4-BE49-F238E27FC236}">
                <a16:creationId xmlns:a16="http://schemas.microsoft.com/office/drawing/2014/main" id="{9DB16074-61D7-4C63-AE50-8B28C673C450}"/>
              </a:ext>
            </a:extLst>
          </p:cNvPr>
          <p:cNvSpPr>
            <a:spLocks noGrp="1"/>
          </p:cNvSpPr>
          <p:nvPr/>
        </p:nvSpPr>
        <p:spPr>
          <a:xfrm>
            <a:off x="6038850" y="4914900"/>
            <a:ext cx="5467350" cy="323850"/>
          </a:xfrm>
          <a:prstGeom prst="rect">
            <a:avLst/>
          </a:prstGeom>
          <a:noFill/>
          <a:ln w="0">
            <a:noFill/>
          </a:ln>
        </p:spPr>
        <p:txBody>
          <a:bodyPr wrap="square" lIns="0" tIns="0" rIns="0" bIns="0" anchor="t">
            <a:noAutofit/>
          </a:bodyPr>
          <a:lstStyle/>
          <a:p>
            <a:pPr algn="l">
              <a:defRPr sz="1500" b="0">
                <a:solidFill>
                  <a:srgbClr val="4C6574"/>
                </a:solidFill>
                <a:latin typeface="Arial"/>
                <a:ea typeface="Arial"/>
                <a:cs typeface="Arial"/>
              </a:defRPr>
            </a:pPr>
            <a:r>
              <a:rPr sz="1500" b="0">
                <a:solidFill>
                  <a:srgbClr val="4C6574"/>
                </a:solidFill>
                <a:latin typeface="Arial"/>
                <a:ea typeface="Arial"/>
                <a:cs typeface="Arial"/>
              </a:rPr>
              <a:t>Cible : Meta Quest 3</a:t>
            </a:r>
          </a:p>
        </p:txBody>
      </p:sp>
      <p:sp>
        <p:nvSpPr>
          <p:cNvPr id="7" name="unity-caption">
            <a:extLst>
              <a:ext uri="{FF2B5EF4-FFF2-40B4-BE49-F238E27FC236}">
                <a16:creationId xmlns:a16="http://schemas.microsoft.com/office/drawing/2014/main" id="{F5F9D327-653C-4D7B-9FC4-A8C2073D73B1}"/>
              </a:ext>
            </a:extLst>
          </p:cNvPr>
          <p:cNvSpPr>
            <a:spLocks noGrp="1"/>
          </p:cNvSpPr>
          <p:nvPr/>
        </p:nvSpPr>
        <p:spPr>
          <a:xfrm>
            <a:off x="685800" y="6391275"/>
            <a:ext cx="8572500" cy="266700"/>
          </a:xfrm>
          <a:prstGeom prst="rect">
            <a:avLst/>
          </a:prstGeom>
          <a:noFill/>
          <a:ln w="0">
            <a:noFill/>
          </a:ln>
        </p:spPr>
        <p:txBody>
          <a:bodyPr wrap="square" lIns="0" tIns="0" rIns="0" bIns="0" anchor="t">
            <a:noAutofit/>
          </a:bodyPr>
          <a:lstStyle/>
          <a:p>
            <a:pPr algn="l">
              <a:defRPr sz="1200" b="0">
                <a:solidFill>
                  <a:srgbClr val="4C6574"/>
                </a:solidFill>
                <a:latin typeface="Arial"/>
                <a:ea typeface="Arial"/>
                <a:cs typeface="Arial"/>
              </a:defRPr>
            </a:pPr>
            <a:r>
              <a:rPr sz="1200" b="0">
                <a:solidFill>
                  <a:srgbClr val="4C6574"/>
                </a:solidFill>
                <a:latin typeface="Arial"/>
                <a:ea typeface="Arial"/>
                <a:cs typeface="Arial"/>
              </a:rPr>
              <a:t>Captures de la scène Unity, pas du Quest 3 autonome</a:t>
            </a:r>
          </a:p>
        </p:txBody>
      </p:sp>
    </p:spTree>
    <p:extLst>
      <p:ext uri="{BB962C8B-B14F-4D97-AF65-F5344CB8AC3E}">
        <p14:creationId xmlns:p14="http://schemas.microsoft.com/office/powerpoint/2010/main" val="1096755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6"/>
        </a:solidFill>
        <a:effectLst/>
      </p:bgPr>
    </p:bg>
    <p:spTree>
      <p:nvGrpSpPr>
        <p:cNvPr id="1" name=""/>
        <p:cNvGrpSpPr/>
        <p:nvPr/>
      </p:nvGrpSpPr>
      <p:grpSpPr>
        <a:xfrm>
          <a:off x="0" y="0"/>
          <a:ext cx="0" cy="0"/>
          <a:chOff x="0" y="0"/>
          <a:chExt cx="0" cy="0"/>
        </a:xfrm>
      </p:grpSpPr>
      <p:sp>
        <p:nvSpPr>
          <p:cNvPr id="9" name="title-Deux parcours dès le menu principal">
            <a:extLst>
              <a:ext uri="{FF2B5EF4-FFF2-40B4-BE49-F238E27FC236}">
                <a16:creationId xmlns:a16="http://schemas.microsoft.com/office/drawing/2014/main" id="{DAD1BD27-CB94-4A1D-9C7C-1C672A488AC3}"/>
              </a:ext>
            </a:extLst>
          </p:cNvPr>
          <p:cNvSpPr>
            <a:spLocks noGrp="1"/>
          </p:cNvSpPr>
          <p:nvPr/>
        </p:nvSpPr>
        <p:spPr>
          <a:xfrm>
            <a:off x="685800" y="552450"/>
            <a:ext cx="10820400" cy="723900"/>
          </a:xfrm>
          <a:prstGeom prst="rect">
            <a:avLst/>
          </a:prstGeom>
          <a:noFill/>
          <a:ln w="0">
            <a:noFill/>
          </a:ln>
        </p:spPr>
        <p:txBody>
          <a:bodyPr wrap="square" lIns="0" tIns="0" rIns="0" bIns="0" anchor="t">
            <a:noAutofit/>
          </a:bodyPr>
          <a:lstStyle/>
          <a:p>
            <a:pPr algn="l">
              <a:defRPr sz="3225" b="1">
                <a:solidFill>
                  <a:srgbClr val="17232D"/>
                </a:solidFill>
                <a:latin typeface="Arial"/>
                <a:ea typeface="Arial"/>
                <a:cs typeface="Arial"/>
              </a:defRPr>
            </a:pPr>
            <a:r>
              <a:rPr sz="3225" b="1">
                <a:solidFill>
                  <a:srgbClr val="17232D"/>
                </a:solidFill>
                <a:latin typeface="Arial"/>
                <a:ea typeface="Arial"/>
                <a:cs typeface="Arial"/>
              </a:rPr>
              <a:t>Deux parcours dès le menu principal</a:t>
            </a:r>
          </a:p>
        </p:txBody>
      </p:sp>
      <p:pic>
        <p:nvPicPr>
          <p:cNvPr id="10" name="Image 9"/>
          <p:cNvPicPr>
            <a:picLocks noChangeAspect="1"/>
          </p:cNvPicPr>
          <p:nvPr/>
        </p:nvPicPr>
        <p:blipFill>
          <a:blip r:embed="rId3"/>
          <a:srcRect l="20000" t="20000" r="20000" b="10000"/>
          <a:stretch/>
        </p:blipFill>
        <p:spPr>
          <a:xfrm>
            <a:off x="685800" y="1562100"/>
            <a:ext cx="4019550" cy="4019550"/>
          </a:xfrm>
          <a:prstGeom prst="rect">
            <a:avLst/>
          </a:prstGeom>
        </p:spPr>
      </p:pic>
      <p:sp>
        <p:nvSpPr>
          <p:cNvPr id="3" name="free-heading">
            <a:extLst>
              <a:ext uri="{FF2B5EF4-FFF2-40B4-BE49-F238E27FC236}">
                <a16:creationId xmlns:a16="http://schemas.microsoft.com/office/drawing/2014/main" id="{D3363C5A-5F60-4D24-B40D-6ED2DB220031}"/>
              </a:ext>
            </a:extLst>
          </p:cNvPr>
          <p:cNvSpPr>
            <a:spLocks noGrp="1"/>
          </p:cNvSpPr>
          <p:nvPr/>
        </p:nvSpPr>
        <p:spPr>
          <a:xfrm>
            <a:off x="5238750" y="1685925"/>
            <a:ext cx="6191250" cy="400050"/>
          </a:xfrm>
          <a:prstGeom prst="rect">
            <a:avLst/>
          </a:prstGeom>
          <a:noFill/>
          <a:ln w="0">
            <a:noFill/>
          </a:ln>
        </p:spPr>
        <p:txBody>
          <a:bodyPr wrap="square" lIns="0" tIns="0" rIns="0" bIns="0" anchor="t">
            <a:noAutofit/>
          </a:bodyPr>
          <a:lstStyle/>
          <a:p>
            <a:pPr algn="l">
              <a:defRPr sz="2325" b="1">
                <a:solidFill>
                  <a:srgbClr val="267DB1"/>
                </a:solidFill>
                <a:latin typeface="Arial"/>
                <a:ea typeface="Arial"/>
                <a:cs typeface="Arial"/>
              </a:defRPr>
            </a:pPr>
            <a:r>
              <a:rPr sz="2325" b="1">
                <a:solidFill>
                  <a:srgbClr val="267DB1"/>
                </a:solidFill>
                <a:latin typeface="Arial"/>
                <a:ea typeface="Arial"/>
                <a:cs typeface="Arial"/>
              </a:rPr>
              <a:t>Visite libre</a:t>
            </a:r>
          </a:p>
        </p:txBody>
      </p:sp>
      <p:sp>
        <p:nvSpPr>
          <p:cNvPr id="4" name="free-body">
            <a:extLst>
              <a:ext uri="{FF2B5EF4-FFF2-40B4-BE49-F238E27FC236}">
                <a16:creationId xmlns:a16="http://schemas.microsoft.com/office/drawing/2014/main" id="{CD058086-1457-4DBA-AD4B-4B061F93F582}"/>
              </a:ext>
            </a:extLst>
          </p:cNvPr>
          <p:cNvSpPr>
            <a:spLocks noGrp="1"/>
          </p:cNvSpPr>
          <p:nvPr/>
        </p:nvSpPr>
        <p:spPr>
          <a:xfrm>
            <a:off x="5238750" y="2162175"/>
            <a:ext cx="6191250" cy="876300"/>
          </a:xfrm>
          <a:prstGeom prst="rect">
            <a:avLst/>
          </a:prstGeom>
          <a:noFill/>
          <a:ln w="0">
            <a:noFill/>
          </a:ln>
        </p:spPr>
        <p:txBody>
          <a:bodyPr wrap="square" lIns="0" tIns="0" rIns="0" bIns="0" anchor="t">
            <a:noAutofit/>
          </a:bodyPr>
          <a:lstStyle/>
          <a:p>
            <a:pPr algn="l">
              <a:defRPr sz="1800" b="0">
                <a:solidFill>
                  <a:srgbClr val="17232D"/>
                </a:solidFill>
                <a:latin typeface="Arial"/>
                <a:ea typeface="Arial"/>
                <a:cs typeface="Arial"/>
              </a:defRPr>
            </a:pPr>
            <a:r>
              <a:rPr sz="1800" b="0">
                <a:solidFill>
                  <a:srgbClr val="17232D"/>
                </a:solidFill>
                <a:latin typeface="Arial"/>
                <a:ea typeface="Arial"/>
                <a:cs typeface="Arial"/>
              </a:rPr>
              <a:t>Explorer la villa, consulter les points d’intérêt et choisir une pièce dans le menu XR.</a:t>
            </a:r>
          </a:p>
        </p:txBody>
      </p:sp>
      <p:sp>
        <p:nvSpPr>
          <p:cNvPr id="5" name="guided-heading">
            <a:extLst>
              <a:ext uri="{FF2B5EF4-FFF2-40B4-BE49-F238E27FC236}">
                <a16:creationId xmlns:a16="http://schemas.microsoft.com/office/drawing/2014/main" id="{0DAD45BC-C0BE-4B0D-8FC3-6B7519E3124C}"/>
              </a:ext>
            </a:extLst>
          </p:cNvPr>
          <p:cNvSpPr>
            <a:spLocks noGrp="1"/>
          </p:cNvSpPr>
          <p:nvPr/>
        </p:nvSpPr>
        <p:spPr>
          <a:xfrm>
            <a:off x="5238750" y="3390900"/>
            <a:ext cx="6191250" cy="400050"/>
          </a:xfrm>
          <a:prstGeom prst="rect">
            <a:avLst/>
          </a:prstGeom>
          <a:noFill/>
          <a:ln w="0">
            <a:noFill/>
          </a:ln>
        </p:spPr>
        <p:txBody>
          <a:bodyPr wrap="square" lIns="0" tIns="0" rIns="0" bIns="0" anchor="t">
            <a:noAutofit/>
          </a:bodyPr>
          <a:lstStyle/>
          <a:p>
            <a:pPr algn="l">
              <a:defRPr sz="2325" b="1">
                <a:solidFill>
                  <a:srgbClr val="267DB1"/>
                </a:solidFill>
                <a:latin typeface="Arial"/>
                <a:ea typeface="Arial"/>
                <a:cs typeface="Arial"/>
              </a:defRPr>
            </a:pPr>
            <a:r>
              <a:rPr sz="2325" b="1">
                <a:solidFill>
                  <a:srgbClr val="267DB1"/>
                </a:solidFill>
                <a:latin typeface="Arial"/>
                <a:ea typeface="Arial"/>
                <a:cs typeface="Arial"/>
              </a:rPr>
              <a:t>Visite guidée</a:t>
            </a:r>
          </a:p>
        </p:txBody>
      </p:sp>
      <p:sp>
        <p:nvSpPr>
          <p:cNvPr id="6" name="guided-body">
            <a:extLst>
              <a:ext uri="{FF2B5EF4-FFF2-40B4-BE49-F238E27FC236}">
                <a16:creationId xmlns:a16="http://schemas.microsoft.com/office/drawing/2014/main" id="{3A89E649-A5C2-48AB-81F0-F9D965787856}"/>
              </a:ext>
            </a:extLst>
          </p:cNvPr>
          <p:cNvSpPr>
            <a:spLocks noGrp="1"/>
          </p:cNvSpPr>
          <p:nvPr/>
        </p:nvSpPr>
        <p:spPr>
          <a:xfrm>
            <a:off x="5238750" y="3876675"/>
            <a:ext cx="6191250" cy="828675"/>
          </a:xfrm>
          <a:prstGeom prst="rect">
            <a:avLst/>
          </a:prstGeom>
          <a:noFill/>
          <a:ln w="0">
            <a:noFill/>
          </a:ln>
        </p:spPr>
        <p:txBody>
          <a:bodyPr wrap="square" lIns="0" tIns="0" rIns="0" bIns="0" anchor="t">
            <a:noAutofit/>
          </a:bodyPr>
          <a:lstStyle/>
          <a:p>
            <a:pPr algn="l">
              <a:defRPr sz="1800" b="0">
                <a:solidFill>
                  <a:srgbClr val="17232D"/>
                </a:solidFill>
                <a:latin typeface="Arial"/>
                <a:ea typeface="Arial"/>
                <a:cs typeface="Arial"/>
              </a:defRPr>
            </a:pPr>
            <a:r>
              <a:rPr sz="1800" b="0">
                <a:solidFill>
                  <a:srgbClr val="17232D"/>
                </a:solidFill>
                <a:latin typeface="Arial"/>
                <a:ea typeface="Arial"/>
                <a:cs typeface="Arial"/>
              </a:rPr>
              <a:t>Suivre six étapes avec les commandes Previous, Next, Finish et Exit.</a:t>
            </a:r>
          </a:p>
        </p:txBody>
      </p:sp>
      <p:sp>
        <p:nvSpPr>
          <p:cNvPr id="7" name="menu-detail">
            <a:extLst>
              <a:ext uri="{FF2B5EF4-FFF2-40B4-BE49-F238E27FC236}">
                <a16:creationId xmlns:a16="http://schemas.microsoft.com/office/drawing/2014/main" id="{D7CA438F-3DFB-4DF7-9549-0831CF23A077}"/>
              </a:ext>
            </a:extLst>
          </p:cNvPr>
          <p:cNvSpPr>
            <a:spLocks noGrp="1"/>
          </p:cNvSpPr>
          <p:nvPr/>
        </p:nvSpPr>
        <p:spPr>
          <a:xfrm>
            <a:off x="5238750" y="5143500"/>
            <a:ext cx="6191250" cy="600075"/>
          </a:xfrm>
          <a:prstGeom prst="rect">
            <a:avLst/>
          </a:prstGeom>
          <a:noFill/>
          <a:ln w="0">
            <a:noFill/>
          </a:ln>
        </p:spPr>
        <p:txBody>
          <a:bodyPr wrap="square" lIns="0" tIns="0" rIns="0" bIns="0" anchor="t">
            <a:noAutofit/>
          </a:bodyPr>
          <a:lstStyle/>
          <a:p>
            <a:pPr algn="l">
              <a:defRPr sz="1500" b="0">
                <a:solidFill>
                  <a:srgbClr val="4C6574"/>
                </a:solidFill>
                <a:latin typeface="Arial"/>
                <a:ea typeface="Arial"/>
                <a:cs typeface="Arial"/>
              </a:defRPr>
            </a:pPr>
            <a:r>
              <a:rPr sz="1500" b="0">
                <a:solidFill>
                  <a:srgbClr val="4C6574"/>
                </a:solidFill>
                <a:latin typeface="Arial"/>
                <a:ea typeface="Arial"/>
                <a:cs typeface="Arial"/>
              </a:rPr>
              <a:t>Le menu donne aussi accès à Controls, Comfort, Credits et Quit.</a:t>
            </a:r>
          </a:p>
        </p:txBody>
      </p:sp>
      <p:sp>
        <p:nvSpPr>
          <p:cNvPr id="8" name="unity-caption">
            <a:extLst>
              <a:ext uri="{FF2B5EF4-FFF2-40B4-BE49-F238E27FC236}">
                <a16:creationId xmlns:a16="http://schemas.microsoft.com/office/drawing/2014/main" id="{702FF218-81D1-4C4A-B4ED-ADC0B285FEE4}"/>
              </a:ext>
            </a:extLst>
          </p:cNvPr>
          <p:cNvSpPr>
            <a:spLocks noGrp="1"/>
          </p:cNvSpPr>
          <p:nvPr/>
        </p:nvSpPr>
        <p:spPr>
          <a:xfrm>
            <a:off x="685800" y="6391275"/>
            <a:ext cx="8572500" cy="266700"/>
          </a:xfrm>
          <a:prstGeom prst="rect">
            <a:avLst/>
          </a:prstGeom>
          <a:noFill/>
          <a:ln w="0">
            <a:noFill/>
          </a:ln>
        </p:spPr>
        <p:txBody>
          <a:bodyPr wrap="square" lIns="0" tIns="0" rIns="0" bIns="0" anchor="t">
            <a:noAutofit/>
          </a:bodyPr>
          <a:lstStyle/>
          <a:p>
            <a:pPr algn="l">
              <a:defRPr sz="1200" b="0">
                <a:solidFill>
                  <a:srgbClr val="4C6574"/>
                </a:solidFill>
                <a:latin typeface="Arial"/>
                <a:ea typeface="Arial"/>
                <a:cs typeface="Arial"/>
              </a:defRPr>
            </a:pPr>
            <a:r>
              <a:rPr sz="1200" b="0">
                <a:solidFill>
                  <a:srgbClr val="4C6574"/>
                </a:solidFill>
                <a:latin typeface="Arial"/>
                <a:ea typeface="Arial"/>
                <a:cs typeface="Arial"/>
              </a:rPr>
              <a:t>Captures de la scène Unity, pas du Quest 3 autonome</a:t>
            </a:r>
          </a:p>
        </p:txBody>
      </p:sp>
    </p:spTree>
    <p:extLst>
      <p:ext uri="{BB962C8B-B14F-4D97-AF65-F5344CB8AC3E}">
        <p14:creationId xmlns:p14="http://schemas.microsoft.com/office/powerpoint/2010/main" val="756696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11" name="title-Six espaces, six points d’intérêt">
            <a:extLst>
              <a:ext uri="{FF2B5EF4-FFF2-40B4-BE49-F238E27FC236}">
                <a16:creationId xmlns:a16="http://schemas.microsoft.com/office/drawing/2014/main" id="{409E30C2-F062-4AD6-91FE-55D2CA76F37E}"/>
              </a:ext>
            </a:extLst>
          </p:cNvPr>
          <p:cNvSpPr>
            <a:spLocks noGrp="1"/>
          </p:cNvSpPr>
          <p:nvPr/>
        </p:nvSpPr>
        <p:spPr>
          <a:xfrm>
            <a:off x="685800" y="552450"/>
            <a:ext cx="10820400" cy="723900"/>
          </a:xfrm>
          <a:prstGeom prst="rect">
            <a:avLst/>
          </a:prstGeom>
          <a:noFill/>
          <a:ln w="0">
            <a:noFill/>
          </a:ln>
        </p:spPr>
        <p:txBody>
          <a:bodyPr wrap="square" lIns="0" tIns="0" rIns="0" bIns="0" anchor="t">
            <a:noAutofit/>
          </a:bodyPr>
          <a:lstStyle/>
          <a:p>
            <a:pPr algn="l">
              <a:defRPr sz="3225" b="1">
                <a:solidFill>
                  <a:srgbClr val="FFFFFF"/>
                </a:solidFill>
                <a:latin typeface="Arial"/>
                <a:ea typeface="Arial"/>
                <a:cs typeface="Arial"/>
              </a:defRPr>
            </a:pPr>
            <a:r>
              <a:rPr sz="3225" b="1">
                <a:solidFill>
                  <a:srgbClr val="FFFFFF"/>
                </a:solidFill>
                <a:latin typeface="Arial"/>
                <a:ea typeface="Arial"/>
                <a:cs typeface="Arial"/>
              </a:rPr>
              <a:t>Six espaces, six points d’intérêt</a:t>
            </a:r>
          </a:p>
        </p:txBody>
      </p:sp>
      <p:sp>
        <p:nvSpPr>
          <p:cNvPr id="2" name="place-1">
            <a:extLst>
              <a:ext uri="{FF2B5EF4-FFF2-40B4-BE49-F238E27FC236}">
                <a16:creationId xmlns:a16="http://schemas.microsoft.com/office/drawing/2014/main" id="{520242D3-C310-4F78-9DB3-B5E782F37281}"/>
              </a:ext>
            </a:extLst>
          </p:cNvPr>
          <p:cNvSpPr>
            <a:spLocks noGrp="1"/>
          </p:cNvSpPr>
          <p:nvPr/>
        </p:nvSpPr>
        <p:spPr>
          <a:xfrm>
            <a:off x="685800" y="1533525"/>
            <a:ext cx="4857750" cy="476250"/>
          </a:xfrm>
          <a:prstGeom prst="rect">
            <a:avLst/>
          </a:prstGeom>
          <a:noFill/>
          <a:ln w="0">
            <a:noFill/>
          </a:ln>
        </p:spPr>
        <p:txBody>
          <a:bodyPr wrap="square" lIns="0" tIns="0" rIns="0" bIns="0" anchor="t">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01   Cuisine</a:t>
            </a:r>
          </a:p>
        </p:txBody>
      </p:sp>
      <p:sp>
        <p:nvSpPr>
          <p:cNvPr id="3" name="place-2">
            <a:extLst>
              <a:ext uri="{FF2B5EF4-FFF2-40B4-BE49-F238E27FC236}">
                <a16:creationId xmlns:a16="http://schemas.microsoft.com/office/drawing/2014/main" id="{2FBD27AB-6272-4CDC-B0BD-CE1161E7367B}"/>
              </a:ext>
            </a:extLst>
          </p:cNvPr>
          <p:cNvSpPr>
            <a:spLocks noGrp="1"/>
          </p:cNvSpPr>
          <p:nvPr/>
        </p:nvSpPr>
        <p:spPr>
          <a:xfrm>
            <a:off x="685800" y="2200275"/>
            <a:ext cx="4857750" cy="476250"/>
          </a:xfrm>
          <a:prstGeom prst="rect">
            <a:avLst/>
          </a:prstGeom>
          <a:noFill/>
          <a:ln w="0">
            <a:noFill/>
          </a:ln>
        </p:spPr>
        <p:txBody>
          <a:bodyPr wrap="square" lIns="0" tIns="0" rIns="0" bIns="0" anchor="t">
            <a:noAutofit/>
          </a:bodyPr>
          <a:lstStyle/>
          <a:p>
            <a:pPr algn="l">
              <a:defRPr sz="2025" b="0">
                <a:solidFill>
                  <a:srgbClr val="FFFFFF"/>
                </a:solidFill>
                <a:latin typeface="Arial"/>
                <a:ea typeface="Arial"/>
                <a:cs typeface="Arial"/>
              </a:defRPr>
            </a:pPr>
            <a:r>
              <a:rPr sz="2025" b="0">
                <a:solidFill>
                  <a:srgbClr val="FFFFFF"/>
                </a:solidFill>
                <a:latin typeface="Arial"/>
                <a:ea typeface="Arial"/>
                <a:cs typeface="Arial"/>
              </a:rPr>
              <a:t>02   Salon</a:t>
            </a:r>
          </a:p>
        </p:txBody>
      </p:sp>
      <p:sp>
        <p:nvSpPr>
          <p:cNvPr id="4" name="place-3">
            <a:extLst>
              <a:ext uri="{FF2B5EF4-FFF2-40B4-BE49-F238E27FC236}">
                <a16:creationId xmlns:a16="http://schemas.microsoft.com/office/drawing/2014/main" id="{ABE2DE87-C413-49C9-89D8-C8315F2D5C29}"/>
              </a:ext>
            </a:extLst>
          </p:cNvPr>
          <p:cNvSpPr>
            <a:spLocks noGrp="1"/>
          </p:cNvSpPr>
          <p:nvPr/>
        </p:nvSpPr>
        <p:spPr>
          <a:xfrm>
            <a:off x="685800" y="2867025"/>
            <a:ext cx="4857750" cy="476250"/>
          </a:xfrm>
          <a:prstGeom prst="rect">
            <a:avLst/>
          </a:prstGeom>
          <a:noFill/>
          <a:ln w="0">
            <a:noFill/>
          </a:ln>
        </p:spPr>
        <p:txBody>
          <a:bodyPr wrap="square" lIns="0" tIns="0" rIns="0" bIns="0" anchor="t">
            <a:noAutofit/>
          </a:bodyPr>
          <a:lstStyle/>
          <a:p>
            <a:pPr algn="l">
              <a:defRPr sz="2025" b="0">
                <a:solidFill>
                  <a:srgbClr val="FFFFFF"/>
                </a:solidFill>
                <a:latin typeface="Arial"/>
                <a:ea typeface="Arial"/>
                <a:cs typeface="Arial"/>
              </a:defRPr>
            </a:pPr>
            <a:r>
              <a:rPr sz="2025" b="0">
                <a:solidFill>
                  <a:srgbClr val="FFFFFF"/>
                </a:solidFill>
                <a:latin typeface="Arial"/>
                <a:ea typeface="Arial"/>
                <a:cs typeface="Arial"/>
              </a:rPr>
              <a:t>03   Salle à manger</a:t>
            </a:r>
          </a:p>
        </p:txBody>
      </p:sp>
      <p:sp>
        <p:nvSpPr>
          <p:cNvPr id="5" name="place-4">
            <a:extLst>
              <a:ext uri="{FF2B5EF4-FFF2-40B4-BE49-F238E27FC236}">
                <a16:creationId xmlns:a16="http://schemas.microsoft.com/office/drawing/2014/main" id="{695830E7-C76A-4B36-B33D-A76925AF9AA4}"/>
              </a:ext>
            </a:extLst>
          </p:cNvPr>
          <p:cNvSpPr>
            <a:spLocks noGrp="1"/>
          </p:cNvSpPr>
          <p:nvPr/>
        </p:nvSpPr>
        <p:spPr>
          <a:xfrm>
            <a:off x="685800" y="3533775"/>
            <a:ext cx="4857750" cy="476250"/>
          </a:xfrm>
          <a:prstGeom prst="rect">
            <a:avLst/>
          </a:prstGeom>
          <a:noFill/>
          <a:ln w="0">
            <a:noFill/>
          </a:ln>
        </p:spPr>
        <p:txBody>
          <a:bodyPr wrap="square" lIns="0" tIns="0" rIns="0" bIns="0" anchor="t">
            <a:noAutofit/>
          </a:bodyPr>
          <a:lstStyle/>
          <a:p>
            <a:pPr algn="l">
              <a:defRPr sz="2025" b="0">
                <a:solidFill>
                  <a:srgbClr val="FFFFFF"/>
                </a:solidFill>
                <a:latin typeface="Arial"/>
                <a:ea typeface="Arial"/>
                <a:cs typeface="Arial"/>
              </a:defRPr>
            </a:pPr>
            <a:r>
              <a:rPr sz="2025" b="0">
                <a:solidFill>
                  <a:srgbClr val="FFFFFF"/>
                </a:solidFill>
                <a:latin typeface="Arial"/>
                <a:ea typeface="Arial"/>
                <a:cs typeface="Arial"/>
              </a:rPr>
              <a:t>04   Chambre principale</a:t>
            </a:r>
          </a:p>
        </p:txBody>
      </p:sp>
      <p:sp>
        <p:nvSpPr>
          <p:cNvPr id="6" name="place-5">
            <a:extLst>
              <a:ext uri="{FF2B5EF4-FFF2-40B4-BE49-F238E27FC236}">
                <a16:creationId xmlns:a16="http://schemas.microsoft.com/office/drawing/2014/main" id="{8DFC644C-7731-4654-BC9C-894FDF021027}"/>
              </a:ext>
            </a:extLst>
          </p:cNvPr>
          <p:cNvSpPr>
            <a:spLocks noGrp="1"/>
          </p:cNvSpPr>
          <p:nvPr/>
        </p:nvSpPr>
        <p:spPr>
          <a:xfrm>
            <a:off x="685800" y="4200525"/>
            <a:ext cx="4857750" cy="476250"/>
          </a:xfrm>
          <a:prstGeom prst="rect">
            <a:avLst/>
          </a:prstGeom>
          <a:noFill/>
          <a:ln w="0">
            <a:noFill/>
          </a:ln>
        </p:spPr>
        <p:txBody>
          <a:bodyPr wrap="square" lIns="0" tIns="0" rIns="0" bIns="0" anchor="t">
            <a:noAutofit/>
          </a:bodyPr>
          <a:lstStyle/>
          <a:p>
            <a:pPr algn="l">
              <a:defRPr sz="2025" b="0">
                <a:solidFill>
                  <a:srgbClr val="FFFFFF"/>
                </a:solidFill>
                <a:latin typeface="Arial"/>
                <a:ea typeface="Arial"/>
                <a:cs typeface="Arial"/>
              </a:defRPr>
            </a:pPr>
            <a:r>
              <a:rPr sz="2025" b="0">
                <a:solidFill>
                  <a:srgbClr val="FFFFFF"/>
                </a:solidFill>
                <a:latin typeface="Arial"/>
                <a:ea typeface="Arial"/>
                <a:cs typeface="Arial"/>
              </a:rPr>
              <a:t>05   Salle de bains</a:t>
            </a:r>
          </a:p>
        </p:txBody>
      </p:sp>
      <p:sp>
        <p:nvSpPr>
          <p:cNvPr id="7" name="place-6">
            <a:extLst>
              <a:ext uri="{FF2B5EF4-FFF2-40B4-BE49-F238E27FC236}">
                <a16:creationId xmlns:a16="http://schemas.microsoft.com/office/drawing/2014/main" id="{866C0471-26DC-4C4C-8D5D-D118C26CDA95}"/>
              </a:ext>
            </a:extLst>
          </p:cNvPr>
          <p:cNvSpPr>
            <a:spLocks noGrp="1"/>
          </p:cNvSpPr>
          <p:nvPr/>
        </p:nvSpPr>
        <p:spPr>
          <a:xfrm>
            <a:off x="685800" y="4867275"/>
            <a:ext cx="4857750" cy="476250"/>
          </a:xfrm>
          <a:prstGeom prst="rect">
            <a:avLst/>
          </a:prstGeom>
          <a:noFill/>
          <a:ln w="0">
            <a:noFill/>
          </a:ln>
        </p:spPr>
        <p:txBody>
          <a:bodyPr wrap="square" lIns="0" tIns="0" rIns="0" bIns="0" anchor="t">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06   Piscine et terrasse</a:t>
            </a:r>
          </a:p>
        </p:txBody>
      </p:sp>
      <p:pic>
        <p:nvPicPr>
          <p:cNvPr id="18" name="Image 17"/>
          <p:cNvPicPr>
            <a:picLocks noChangeAspect="1"/>
          </p:cNvPicPr>
          <p:nvPr/>
        </p:nvPicPr>
        <p:blipFill>
          <a:blip r:embed="rId3"/>
          <a:srcRect l="18" r="18"/>
          <a:stretch>
            <a:fillRect/>
          </a:stretch>
        </p:blipFill>
        <p:spPr>
          <a:xfrm>
            <a:off x="5734050" y="1771650"/>
            <a:ext cx="5772150" cy="3248025"/>
          </a:xfrm>
          <a:prstGeom prst="rect">
            <a:avLst/>
          </a:prstGeom>
        </p:spPr>
      </p:pic>
      <p:sp>
        <p:nvSpPr>
          <p:cNvPr id="9" name="poi-detail">
            <a:extLst>
              <a:ext uri="{FF2B5EF4-FFF2-40B4-BE49-F238E27FC236}">
                <a16:creationId xmlns:a16="http://schemas.microsoft.com/office/drawing/2014/main" id="{CFD9501D-149D-4AAB-A657-4697C38E382B}"/>
              </a:ext>
            </a:extLst>
          </p:cNvPr>
          <p:cNvSpPr>
            <a:spLocks noGrp="1"/>
          </p:cNvSpPr>
          <p:nvPr/>
        </p:nvSpPr>
        <p:spPr>
          <a:xfrm>
            <a:off x="5734050" y="5257800"/>
            <a:ext cx="5772150" cy="590550"/>
          </a:xfrm>
          <a:prstGeom prst="rect">
            <a:avLst/>
          </a:prstGeom>
          <a:noFill/>
          <a:ln w="0">
            <a:noFill/>
          </a:ln>
        </p:spPr>
        <p:txBody>
          <a:bodyPr wrap="square" lIns="0" tIns="0" rIns="0" bIns="0" anchor="t">
            <a:noAutofit/>
          </a:bodyPr>
          <a:lstStyle/>
          <a:p>
            <a:pPr algn="l">
              <a:defRPr sz="1650" b="0">
                <a:solidFill>
                  <a:srgbClr val="DCE8EE"/>
                </a:solidFill>
                <a:latin typeface="Arial"/>
                <a:ea typeface="Arial"/>
                <a:cs typeface="Arial"/>
              </a:defRPr>
            </a:pPr>
            <a:r>
              <a:rPr sz="1650" b="0">
                <a:solidFill>
                  <a:srgbClr val="DCE8EE"/>
                </a:solidFill>
                <a:latin typeface="Arial"/>
                <a:ea typeface="Arial"/>
                <a:cs typeface="Arial"/>
              </a:rPr>
              <a:t>Chaque POI affiche une description de la pièce.</a:t>
            </a:r>
          </a:p>
        </p:txBody>
      </p:sp>
      <p:sp>
        <p:nvSpPr>
          <p:cNvPr id="10" name="unity-caption">
            <a:extLst>
              <a:ext uri="{FF2B5EF4-FFF2-40B4-BE49-F238E27FC236}">
                <a16:creationId xmlns:a16="http://schemas.microsoft.com/office/drawing/2014/main" id="{4A3F3523-E4A9-40D8-8957-7686CE91C5A3}"/>
              </a:ext>
            </a:extLst>
          </p:cNvPr>
          <p:cNvSpPr>
            <a:spLocks noGrp="1"/>
          </p:cNvSpPr>
          <p:nvPr/>
        </p:nvSpPr>
        <p:spPr>
          <a:xfrm>
            <a:off x="685800" y="6391275"/>
            <a:ext cx="8572500" cy="266700"/>
          </a:xfrm>
          <a:prstGeom prst="rect">
            <a:avLst/>
          </a:prstGeom>
          <a:noFill/>
          <a:ln w="0">
            <a:noFill/>
          </a:ln>
        </p:spPr>
        <p:txBody>
          <a:bodyPr wrap="square" lIns="0" tIns="0" rIns="0" bIns="0" anchor="t">
            <a:noAutofit/>
          </a:bodyPr>
          <a:lstStyle/>
          <a:p>
            <a:pPr algn="l">
              <a:defRPr sz="1200" b="0">
                <a:solidFill>
                  <a:srgbClr val="DCE8EE"/>
                </a:solidFill>
                <a:latin typeface="Arial"/>
                <a:ea typeface="Arial"/>
                <a:cs typeface="Arial"/>
              </a:defRPr>
            </a:pPr>
            <a:r>
              <a:rPr sz="1200" b="0">
                <a:solidFill>
                  <a:srgbClr val="DCE8EE"/>
                </a:solidFill>
                <a:latin typeface="Arial"/>
                <a:ea typeface="Arial"/>
                <a:cs typeface="Arial"/>
              </a:rPr>
              <a:t>Captures de la scène Unity, pas du Quest 3 autonome</a:t>
            </a:r>
          </a:p>
        </p:txBody>
      </p:sp>
    </p:spTree>
    <p:extLst>
      <p:ext uri="{BB962C8B-B14F-4D97-AF65-F5344CB8AC3E}">
        <p14:creationId xmlns:p14="http://schemas.microsoft.com/office/powerpoint/2010/main" val="1035756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6"/>
        </a:solidFill>
        <a:effectLst/>
      </p:bgPr>
    </p:bg>
    <p:spTree>
      <p:nvGrpSpPr>
        <p:cNvPr id="1" name=""/>
        <p:cNvGrpSpPr/>
        <p:nvPr/>
      </p:nvGrpSpPr>
      <p:grpSpPr>
        <a:xfrm>
          <a:off x="0" y="0"/>
          <a:ext cx="0" cy="0"/>
          <a:chOff x="0" y="0"/>
          <a:chExt cx="0" cy="0"/>
        </a:xfrm>
      </p:grpSpPr>
      <p:sp>
        <p:nvSpPr>
          <p:cNvPr id="13" name="title-Navigation et confort VR">
            <a:extLst>
              <a:ext uri="{FF2B5EF4-FFF2-40B4-BE49-F238E27FC236}">
                <a16:creationId xmlns:a16="http://schemas.microsoft.com/office/drawing/2014/main" id="{301C8966-42F6-4DBF-9E91-58B87123D8DB}"/>
              </a:ext>
            </a:extLst>
          </p:cNvPr>
          <p:cNvSpPr>
            <a:spLocks noGrp="1"/>
          </p:cNvSpPr>
          <p:nvPr/>
        </p:nvSpPr>
        <p:spPr>
          <a:xfrm>
            <a:off x="685800" y="552450"/>
            <a:ext cx="10820400" cy="723900"/>
          </a:xfrm>
          <a:prstGeom prst="rect">
            <a:avLst/>
          </a:prstGeom>
          <a:noFill/>
          <a:ln w="0">
            <a:noFill/>
          </a:ln>
        </p:spPr>
        <p:txBody>
          <a:bodyPr wrap="square" lIns="0" tIns="0" rIns="0" bIns="0" anchor="t">
            <a:noAutofit/>
          </a:bodyPr>
          <a:lstStyle/>
          <a:p>
            <a:pPr algn="l">
              <a:defRPr sz="3225" b="1">
                <a:solidFill>
                  <a:srgbClr val="17232D"/>
                </a:solidFill>
                <a:latin typeface="Arial"/>
                <a:ea typeface="Arial"/>
                <a:cs typeface="Arial"/>
              </a:defRPr>
            </a:pPr>
            <a:r>
              <a:rPr sz="3225" b="1">
                <a:solidFill>
                  <a:srgbClr val="17232D"/>
                </a:solidFill>
                <a:latin typeface="Arial"/>
                <a:ea typeface="Arial"/>
                <a:cs typeface="Arial"/>
              </a:rPr>
              <a:t>Navigation et confort VR</a:t>
            </a:r>
          </a:p>
        </p:txBody>
      </p:sp>
      <p:sp>
        <p:nvSpPr>
          <p:cNvPr id="2" name="comfort-head-0">
            <a:extLst>
              <a:ext uri="{FF2B5EF4-FFF2-40B4-BE49-F238E27FC236}">
                <a16:creationId xmlns:a16="http://schemas.microsoft.com/office/drawing/2014/main" id="{BB02D2CF-7776-46C5-A562-D546490D663C}"/>
              </a:ext>
            </a:extLst>
          </p:cNvPr>
          <p:cNvSpPr>
            <a:spLocks noGrp="1"/>
          </p:cNvSpPr>
          <p:nvPr/>
        </p:nvSpPr>
        <p:spPr>
          <a:xfrm>
            <a:off x="685800" y="1562100"/>
            <a:ext cx="4905375" cy="361950"/>
          </a:xfrm>
          <a:prstGeom prst="rect">
            <a:avLst/>
          </a:prstGeom>
          <a:noFill/>
          <a:ln w="0">
            <a:noFill/>
          </a:ln>
        </p:spPr>
        <p:txBody>
          <a:bodyPr wrap="square" lIns="0" tIns="0" rIns="0" bIns="0" anchor="t">
            <a:noAutofit/>
          </a:bodyPr>
          <a:lstStyle/>
          <a:p>
            <a:pPr algn="l">
              <a:defRPr sz="2025" b="1">
                <a:solidFill>
                  <a:srgbClr val="267DB1"/>
                </a:solidFill>
                <a:latin typeface="Arial"/>
                <a:ea typeface="Arial"/>
                <a:cs typeface="Arial"/>
              </a:defRPr>
            </a:pPr>
            <a:r>
              <a:rPr sz="2025" b="1">
                <a:solidFill>
                  <a:srgbClr val="267DB1"/>
                </a:solidFill>
                <a:latin typeface="Arial"/>
                <a:ea typeface="Arial"/>
                <a:cs typeface="Arial"/>
              </a:rPr>
              <a:t>Se déplacer</a:t>
            </a:r>
          </a:p>
        </p:txBody>
      </p:sp>
      <p:sp>
        <p:nvSpPr>
          <p:cNvPr id="3" name="comfort-body-0">
            <a:extLst>
              <a:ext uri="{FF2B5EF4-FFF2-40B4-BE49-F238E27FC236}">
                <a16:creationId xmlns:a16="http://schemas.microsoft.com/office/drawing/2014/main" id="{1CD75F31-04AA-4864-8E1E-34ACB18EB78B}"/>
              </a:ext>
            </a:extLst>
          </p:cNvPr>
          <p:cNvSpPr>
            <a:spLocks noGrp="1"/>
          </p:cNvSpPr>
          <p:nvPr/>
        </p:nvSpPr>
        <p:spPr>
          <a:xfrm>
            <a:off x="685800" y="1971675"/>
            <a:ext cx="4905375" cy="600075"/>
          </a:xfrm>
          <a:prstGeom prst="rect">
            <a:avLst/>
          </a:prstGeom>
          <a:noFill/>
          <a:ln w="0">
            <a:noFill/>
          </a:ln>
        </p:spPr>
        <p:txBody>
          <a:bodyPr wrap="square" lIns="0" tIns="0" rIns="0" bIns="0" anchor="t">
            <a:noAutofit/>
          </a:bodyPr>
          <a:lstStyle/>
          <a:p>
            <a:pPr algn="l">
              <a:defRPr sz="1725" b="0">
                <a:solidFill>
                  <a:srgbClr val="17232D"/>
                </a:solidFill>
                <a:latin typeface="Arial"/>
                <a:ea typeface="Arial"/>
                <a:cs typeface="Arial"/>
              </a:defRPr>
            </a:pPr>
            <a:r>
              <a:rPr sz="1725" b="0">
                <a:solidFill>
                  <a:srgbClr val="17232D"/>
                </a:solidFill>
                <a:latin typeface="Arial"/>
                <a:ea typeface="Arial"/>
                <a:cs typeface="Arial"/>
              </a:rPr>
              <a:t>Marche continue ou téléportation.</a:t>
            </a:r>
          </a:p>
        </p:txBody>
      </p:sp>
      <p:sp>
        <p:nvSpPr>
          <p:cNvPr id="4" name="comfort-head-1">
            <a:extLst>
              <a:ext uri="{FF2B5EF4-FFF2-40B4-BE49-F238E27FC236}">
                <a16:creationId xmlns:a16="http://schemas.microsoft.com/office/drawing/2014/main" id="{629952AD-9E31-440C-9F43-0B3B169FE939}"/>
              </a:ext>
            </a:extLst>
          </p:cNvPr>
          <p:cNvSpPr>
            <a:spLocks noGrp="1"/>
          </p:cNvSpPr>
          <p:nvPr/>
        </p:nvSpPr>
        <p:spPr>
          <a:xfrm>
            <a:off x="685800" y="2686050"/>
            <a:ext cx="4905375" cy="361950"/>
          </a:xfrm>
          <a:prstGeom prst="rect">
            <a:avLst/>
          </a:prstGeom>
          <a:noFill/>
          <a:ln w="0">
            <a:noFill/>
          </a:ln>
        </p:spPr>
        <p:txBody>
          <a:bodyPr wrap="square" lIns="0" tIns="0" rIns="0" bIns="0" anchor="t">
            <a:noAutofit/>
          </a:bodyPr>
          <a:lstStyle/>
          <a:p>
            <a:pPr algn="l">
              <a:defRPr sz="2025" b="1">
                <a:solidFill>
                  <a:srgbClr val="267DB1"/>
                </a:solidFill>
                <a:latin typeface="Arial"/>
                <a:ea typeface="Arial"/>
                <a:cs typeface="Arial"/>
              </a:defRPr>
            </a:pPr>
            <a:r>
              <a:rPr sz="2025" b="1">
                <a:solidFill>
                  <a:srgbClr val="267DB1"/>
                </a:solidFill>
                <a:latin typeface="Arial"/>
                <a:ea typeface="Arial"/>
                <a:cs typeface="Arial"/>
              </a:rPr>
              <a:t>Changer de pièce</a:t>
            </a:r>
          </a:p>
        </p:txBody>
      </p:sp>
      <p:sp>
        <p:nvSpPr>
          <p:cNvPr id="5" name="comfort-body-1">
            <a:extLst>
              <a:ext uri="{FF2B5EF4-FFF2-40B4-BE49-F238E27FC236}">
                <a16:creationId xmlns:a16="http://schemas.microsoft.com/office/drawing/2014/main" id="{B42BCC0D-FA50-49C1-B90A-9CAE6371E939}"/>
              </a:ext>
            </a:extLst>
          </p:cNvPr>
          <p:cNvSpPr>
            <a:spLocks noGrp="1"/>
          </p:cNvSpPr>
          <p:nvPr/>
        </p:nvSpPr>
        <p:spPr>
          <a:xfrm>
            <a:off x="685800" y="3095625"/>
            <a:ext cx="4905375" cy="600075"/>
          </a:xfrm>
          <a:prstGeom prst="rect">
            <a:avLst/>
          </a:prstGeom>
          <a:noFill/>
          <a:ln w="0">
            <a:noFill/>
          </a:ln>
        </p:spPr>
        <p:txBody>
          <a:bodyPr wrap="square" lIns="0" tIns="0" rIns="0" bIns="0" anchor="t">
            <a:noAutofit/>
          </a:bodyPr>
          <a:lstStyle/>
          <a:p>
            <a:pPr algn="l">
              <a:defRPr sz="1725" b="0">
                <a:solidFill>
                  <a:srgbClr val="17232D"/>
                </a:solidFill>
                <a:latin typeface="Arial"/>
                <a:ea typeface="Arial"/>
                <a:cs typeface="Arial"/>
              </a:defRPr>
            </a:pPr>
            <a:r>
              <a:rPr sz="1725" b="0">
                <a:solidFill>
                  <a:srgbClr val="17232D"/>
                </a:solidFill>
                <a:latin typeface="Arial"/>
                <a:ea typeface="Arial"/>
                <a:cs typeface="Arial"/>
              </a:rPr>
              <a:t>Menu XR et fondu au noir.</a:t>
            </a:r>
          </a:p>
        </p:txBody>
      </p:sp>
      <p:sp>
        <p:nvSpPr>
          <p:cNvPr id="6" name="comfort-head-2">
            <a:extLst>
              <a:ext uri="{FF2B5EF4-FFF2-40B4-BE49-F238E27FC236}">
                <a16:creationId xmlns:a16="http://schemas.microsoft.com/office/drawing/2014/main" id="{ADF1EA5A-C55F-4CF6-933E-8FAE8C43DA3A}"/>
              </a:ext>
            </a:extLst>
          </p:cNvPr>
          <p:cNvSpPr>
            <a:spLocks noGrp="1"/>
          </p:cNvSpPr>
          <p:nvPr/>
        </p:nvSpPr>
        <p:spPr>
          <a:xfrm>
            <a:off x="685800" y="3810000"/>
            <a:ext cx="4905375" cy="361950"/>
          </a:xfrm>
          <a:prstGeom prst="rect">
            <a:avLst/>
          </a:prstGeom>
          <a:noFill/>
          <a:ln w="0">
            <a:noFill/>
          </a:ln>
        </p:spPr>
        <p:txBody>
          <a:bodyPr wrap="square" lIns="0" tIns="0" rIns="0" bIns="0" anchor="t">
            <a:noAutofit/>
          </a:bodyPr>
          <a:lstStyle/>
          <a:p>
            <a:pPr algn="l">
              <a:defRPr sz="2025" b="1">
                <a:solidFill>
                  <a:srgbClr val="267DB1"/>
                </a:solidFill>
                <a:latin typeface="Arial"/>
                <a:ea typeface="Arial"/>
                <a:cs typeface="Arial"/>
              </a:defRPr>
            </a:pPr>
            <a:r>
              <a:rPr sz="2025" b="1">
                <a:solidFill>
                  <a:srgbClr val="267DB1"/>
                </a:solidFill>
                <a:latin typeface="Arial"/>
                <a:ea typeface="Arial"/>
                <a:cs typeface="Arial"/>
              </a:rPr>
              <a:t>Tourner</a:t>
            </a:r>
          </a:p>
        </p:txBody>
      </p:sp>
      <p:sp>
        <p:nvSpPr>
          <p:cNvPr id="7" name="comfort-body-2">
            <a:extLst>
              <a:ext uri="{FF2B5EF4-FFF2-40B4-BE49-F238E27FC236}">
                <a16:creationId xmlns:a16="http://schemas.microsoft.com/office/drawing/2014/main" id="{890373D1-75E4-4913-88D0-1EF6F664679D}"/>
              </a:ext>
            </a:extLst>
          </p:cNvPr>
          <p:cNvSpPr>
            <a:spLocks noGrp="1"/>
          </p:cNvSpPr>
          <p:nvPr/>
        </p:nvSpPr>
        <p:spPr>
          <a:xfrm>
            <a:off x="685800" y="4219575"/>
            <a:ext cx="4905375" cy="600075"/>
          </a:xfrm>
          <a:prstGeom prst="rect">
            <a:avLst/>
          </a:prstGeom>
          <a:noFill/>
          <a:ln w="0">
            <a:noFill/>
          </a:ln>
        </p:spPr>
        <p:txBody>
          <a:bodyPr wrap="square" lIns="0" tIns="0" rIns="0" bIns="0" anchor="t">
            <a:noAutofit/>
          </a:bodyPr>
          <a:lstStyle/>
          <a:p>
            <a:pPr algn="l">
              <a:defRPr sz="1725" b="0">
                <a:solidFill>
                  <a:srgbClr val="17232D"/>
                </a:solidFill>
                <a:latin typeface="Arial"/>
                <a:ea typeface="Arial"/>
                <a:cs typeface="Arial"/>
              </a:defRPr>
            </a:pPr>
            <a:r>
              <a:rPr sz="1725" b="0">
                <a:solidFill>
                  <a:srgbClr val="17232D"/>
                </a:solidFill>
                <a:latin typeface="Arial"/>
                <a:ea typeface="Arial"/>
                <a:cs typeface="Arial"/>
              </a:rPr>
              <a:t>Rotation par paliers de 30° ou 45°.</a:t>
            </a:r>
          </a:p>
        </p:txBody>
      </p:sp>
      <p:sp>
        <p:nvSpPr>
          <p:cNvPr id="8" name="comfort-head-3">
            <a:extLst>
              <a:ext uri="{FF2B5EF4-FFF2-40B4-BE49-F238E27FC236}">
                <a16:creationId xmlns:a16="http://schemas.microsoft.com/office/drawing/2014/main" id="{E561926B-8E69-4C7C-8D11-0949794333F7}"/>
              </a:ext>
            </a:extLst>
          </p:cNvPr>
          <p:cNvSpPr>
            <a:spLocks noGrp="1"/>
          </p:cNvSpPr>
          <p:nvPr/>
        </p:nvSpPr>
        <p:spPr>
          <a:xfrm>
            <a:off x="685800" y="4933950"/>
            <a:ext cx="4905375" cy="361950"/>
          </a:xfrm>
          <a:prstGeom prst="rect">
            <a:avLst/>
          </a:prstGeom>
          <a:noFill/>
          <a:ln w="0">
            <a:noFill/>
          </a:ln>
        </p:spPr>
        <p:txBody>
          <a:bodyPr wrap="square" lIns="0" tIns="0" rIns="0" bIns="0" anchor="t">
            <a:noAutofit/>
          </a:bodyPr>
          <a:lstStyle/>
          <a:p>
            <a:pPr algn="l">
              <a:defRPr sz="2025" b="1">
                <a:solidFill>
                  <a:srgbClr val="267DB1"/>
                </a:solidFill>
                <a:latin typeface="Arial"/>
                <a:ea typeface="Arial"/>
                <a:cs typeface="Arial"/>
              </a:defRPr>
            </a:pPr>
            <a:r>
              <a:rPr sz="2025" b="1">
                <a:solidFill>
                  <a:srgbClr val="267DB1"/>
                </a:solidFill>
                <a:latin typeface="Arial"/>
                <a:ea typeface="Arial"/>
                <a:cs typeface="Arial"/>
              </a:rPr>
              <a:t>Visite guidée</a:t>
            </a:r>
          </a:p>
        </p:txBody>
      </p:sp>
      <p:sp>
        <p:nvSpPr>
          <p:cNvPr id="9" name="comfort-body-3">
            <a:extLst>
              <a:ext uri="{FF2B5EF4-FFF2-40B4-BE49-F238E27FC236}">
                <a16:creationId xmlns:a16="http://schemas.microsoft.com/office/drawing/2014/main" id="{764A52D3-A1D8-4CE5-B716-E851079E4683}"/>
              </a:ext>
            </a:extLst>
          </p:cNvPr>
          <p:cNvSpPr>
            <a:spLocks noGrp="1"/>
          </p:cNvSpPr>
          <p:nvPr/>
        </p:nvSpPr>
        <p:spPr>
          <a:xfrm>
            <a:off x="685800" y="5343525"/>
            <a:ext cx="4905375" cy="600075"/>
          </a:xfrm>
          <a:prstGeom prst="rect">
            <a:avLst/>
          </a:prstGeom>
          <a:noFill/>
          <a:ln w="0">
            <a:noFill/>
          </a:ln>
        </p:spPr>
        <p:txBody>
          <a:bodyPr wrap="square" lIns="0" tIns="0" rIns="0" bIns="0" anchor="t">
            <a:noAutofit/>
          </a:bodyPr>
          <a:lstStyle/>
          <a:p>
            <a:pPr algn="l">
              <a:defRPr sz="1725" b="0">
                <a:solidFill>
                  <a:srgbClr val="17232D"/>
                </a:solidFill>
                <a:latin typeface="Arial"/>
                <a:ea typeface="Arial"/>
                <a:cs typeface="Arial"/>
              </a:defRPr>
            </a:pPr>
            <a:r>
              <a:rPr sz="1725" b="0">
                <a:solidFill>
                  <a:srgbClr val="17232D"/>
                </a:solidFill>
                <a:latin typeface="Arial"/>
                <a:ea typeface="Arial"/>
                <a:cs typeface="Arial"/>
              </a:rPr>
              <a:t>Aucun déplacement animé de la caméra.</a:t>
            </a:r>
          </a:p>
        </p:txBody>
      </p:sp>
      <p:pic>
        <p:nvPicPr>
          <p:cNvPr id="22" name="Image 21"/>
          <p:cNvPicPr>
            <a:picLocks noChangeAspect="1"/>
          </p:cNvPicPr>
          <p:nvPr/>
        </p:nvPicPr>
        <p:blipFill>
          <a:blip r:embed="rId3"/>
          <a:srcRect l="19" r="19"/>
          <a:stretch>
            <a:fillRect/>
          </a:stretch>
        </p:blipFill>
        <p:spPr>
          <a:xfrm>
            <a:off x="6038850" y="1657350"/>
            <a:ext cx="5467350" cy="3076575"/>
          </a:xfrm>
          <a:prstGeom prst="rect">
            <a:avLst/>
          </a:prstGeom>
        </p:spPr>
      </p:pic>
      <p:sp>
        <p:nvSpPr>
          <p:cNvPr id="11" name="comfort-limit">
            <a:extLst>
              <a:ext uri="{FF2B5EF4-FFF2-40B4-BE49-F238E27FC236}">
                <a16:creationId xmlns:a16="http://schemas.microsoft.com/office/drawing/2014/main" id="{584AFC94-2090-4857-9BD9-A87D0C4F44FF}"/>
              </a:ext>
            </a:extLst>
          </p:cNvPr>
          <p:cNvSpPr>
            <a:spLocks noGrp="1"/>
          </p:cNvSpPr>
          <p:nvPr/>
        </p:nvSpPr>
        <p:spPr>
          <a:xfrm>
            <a:off x="6038850" y="4924425"/>
            <a:ext cx="5467350" cy="666750"/>
          </a:xfrm>
          <a:prstGeom prst="rect">
            <a:avLst/>
          </a:prstGeom>
          <a:noFill/>
          <a:ln w="0">
            <a:noFill/>
          </a:ln>
        </p:spPr>
        <p:txBody>
          <a:bodyPr wrap="square" lIns="0" tIns="0" rIns="0" bIns="0" anchor="t">
            <a:noAutofit/>
          </a:bodyPr>
          <a:lstStyle/>
          <a:p>
            <a:pPr algn="l">
              <a:defRPr sz="1500" b="0">
                <a:solidFill>
                  <a:srgbClr val="4C6574"/>
                </a:solidFill>
                <a:latin typeface="Arial"/>
                <a:ea typeface="Arial"/>
                <a:cs typeface="Arial"/>
              </a:defRPr>
            </a:pPr>
            <a:r>
              <a:rPr sz="1500" b="0" dirty="0" err="1">
                <a:solidFill>
                  <a:srgbClr val="4C6574"/>
                </a:solidFill>
                <a:latin typeface="Arial"/>
                <a:ea typeface="Arial"/>
                <a:cs typeface="Arial"/>
              </a:rPr>
              <a:t>Confort</a:t>
            </a:r>
            <a:r>
              <a:rPr sz="1500" b="0" dirty="0">
                <a:solidFill>
                  <a:srgbClr val="4C6574"/>
                </a:solidFill>
                <a:latin typeface="Arial"/>
                <a:ea typeface="Arial"/>
                <a:cs typeface="Arial"/>
              </a:rPr>
              <a:t> </a:t>
            </a:r>
            <a:r>
              <a:rPr sz="1500" b="0" dirty="0" err="1">
                <a:solidFill>
                  <a:srgbClr val="4C6574"/>
                </a:solidFill>
                <a:latin typeface="Arial"/>
                <a:ea typeface="Arial"/>
                <a:cs typeface="Arial"/>
              </a:rPr>
              <a:t>réel</a:t>
            </a:r>
            <a:r>
              <a:rPr sz="1500" b="0" dirty="0">
                <a:solidFill>
                  <a:srgbClr val="4C6574"/>
                </a:solidFill>
                <a:latin typeface="Arial"/>
                <a:ea typeface="Arial"/>
                <a:cs typeface="Arial"/>
              </a:rPr>
              <a:t> sur le dernier APK : </a:t>
            </a:r>
            <a:r>
              <a:rPr lang="fr-FR" sz="1500" dirty="0">
                <a:solidFill>
                  <a:srgbClr val="4C6574"/>
                </a:solidFill>
                <a:latin typeface="Arial"/>
                <a:ea typeface="Arial"/>
                <a:cs typeface="Arial"/>
              </a:rPr>
              <a:t>A vérifier</a:t>
            </a:r>
            <a:endParaRPr sz="1500" b="0" dirty="0">
              <a:solidFill>
                <a:srgbClr val="4C6574"/>
              </a:solidFill>
              <a:latin typeface="Arial"/>
              <a:ea typeface="Arial"/>
              <a:cs typeface="Arial"/>
            </a:endParaRPr>
          </a:p>
        </p:txBody>
      </p:sp>
      <p:sp>
        <p:nvSpPr>
          <p:cNvPr id="12" name="unity-caption">
            <a:extLst>
              <a:ext uri="{FF2B5EF4-FFF2-40B4-BE49-F238E27FC236}">
                <a16:creationId xmlns:a16="http://schemas.microsoft.com/office/drawing/2014/main" id="{65FF2E30-DF5E-42A5-8A58-5426AD9FE891}"/>
              </a:ext>
            </a:extLst>
          </p:cNvPr>
          <p:cNvSpPr>
            <a:spLocks noGrp="1"/>
          </p:cNvSpPr>
          <p:nvPr/>
        </p:nvSpPr>
        <p:spPr>
          <a:xfrm>
            <a:off x="685800" y="6391275"/>
            <a:ext cx="8572500" cy="266700"/>
          </a:xfrm>
          <a:prstGeom prst="rect">
            <a:avLst/>
          </a:prstGeom>
          <a:noFill/>
          <a:ln w="0">
            <a:noFill/>
          </a:ln>
        </p:spPr>
        <p:txBody>
          <a:bodyPr wrap="square" lIns="0" tIns="0" rIns="0" bIns="0" anchor="t">
            <a:noAutofit/>
          </a:bodyPr>
          <a:lstStyle/>
          <a:p>
            <a:pPr algn="l">
              <a:defRPr sz="1200" b="0">
                <a:solidFill>
                  <a:srgbClr val="4C6574"/>
                </a:solidFill>
                <a:latin typeface="Arial"/>
                <a:ea typeface="Arial"/>
                <a:cs typeface="Arial"/>
              </a:defRPr>
            </a:pPr>
            <a:r>
              <a:rPr sz="1200" b="0">
                <a:solidFill>
                  <a:srgbClr val="4C6574"/>
                </a:solidFill>
                <a:latin typeface="Arial"/>
                <a:ea typeface="Arial"/>
                <a:cs typeface="Arial"/>
              </a:rPr>
              <a:t>Captures de la scène Unity, pas du Quest 3 autonome</a:t>
            </a:r>
          </a:p>
        </p:txBody>
      </p:sp>
    </p:spTree>
    <p:extLst>
      <p:ext uri="{BB962C8B-B14F-4D97-AF65-F5344CB8AC3E}">
        <p14:creationId xmlns:p14="http://schemas.microsoft.com/office/powerpoint/2010/main" val="134875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6"/>
        </a:solidFill>
        <a:effectLst/>
      </p:bgPr>
    </p:bg>
    <p:spTree>
      <p:nvGrpSpPr>
        <p:cNvPr id="1" name=""/>
        <p:cNvGrpSpPr/>
        <p:nvPr/>
      </p:nvGrpSpPr>
      <p:grpSpPr>
        <a:xfrm>
          <a:off x="0" y="0"/>
          <a:ext cx="0" cy="0"/>
          <a:chOff x="0" y="0"/>
          <a:chExt cx="0" cy="0"/>
        </a:xfrm>
      </p:grpSpPr>
      <p:sp>
        <p:nvSpPr>
          <p:cNvPr id="13" name="title-Une villa interactive">
            <a:extLst>
              <a:ext uri="{FF2B5EF4-FFF2-40B4-BE49-F238E27FC236}">
                <a16:creationId xmlns:a16="http://schemas.microsoft.com/office/drawing/2014/main" id="{11543DBF-7731-448F-976F-64DE2A396F32}"/>
              </a:ext>
            </a:extLst>
          </p:cNvPr>
          <p:cNvSpPr>
            <a:spLocks noGrp="1"/>
          </p:cNvSpPr>
          <p:nvPr/>
        </p:nvSpPr>
        <p:spPr>
          <a:xfrm>
            <a:off x="685800" y="552450"/>
            <a:ext cx="10820400" cy="723900"/>
          </a:xfrm>
          <a:prstGeom prst="rect">
            <a:avLst/>
          </a:prstGeom>
          <a:noFill/>
          <a:ln w="0">
            <a:noFill/>
          </a:ln>
        </p:spPr>
        <p:txBody>
          <a:bodyPr wrap="square" lIns="0" tIns="0" rIns="0" bIns="0" anchor="t">
            <a:noAutofit/>
          </a:bodyPr>
          <a:lstStyle/>
          <a:p>
            <a:pPr algn="l">
              <a:defRPr sz="3225" b="1">
                <a:solidFill>
                  <a:srgbClr val="17232D"/>
                </a:solidFill>
                <a:latin typeface="Arial"/>
                <a:ea typeface="Arial"/>
                <a:cs typeface="Arial"/>
              </a:defRPr>
            </a:pPr>
            <a:r>
              <a:rPr sz="3225" b="1">
                <a:solidFill>
                  <a:srgbClr val="17232D"/>
                </a:solidFill>
                <a:latin typeface="Arial"/>
                <a:ea typeface="Arial"/>
                <a:cs typeface="Arial"/>
              </a:rPr>
              <a:t>Une villa interactive</a:t>
            </a:r>
          </a:p>
        </p:txBody>
      </p:sp>
      <p:sp>
        <p:nvSpPr>
          <p:cNvPr id="2" name="interaction-head-0">
            <a:extLst>
              <a:ext uri="{FF2B5EF4-FFF2-40B4-BE49-F238E27FC236}">
                <a16:creationId xmlns:a16="http://schemas.microsoft.com/office/drawing/2014/main" id="{423484AC-4B55-463F-AF89-EE1785D5C55D}"/>
              </a:ext>
            </a:extLst>
          </p:cNvPr>
          <p:cNvSpPr>
            <a:spLocks noGrp="1"/>
          </p:cNvSpPr>
          <p:nvPr/>
        </p:nvSpPr>
        <p:spPr>
          <a:xfrm>
            <a:off x="685800" y="1543050"/>
            <a:ext cx="5000625" cy="371475"/>
          </a:xfrm>
          <a:prstGeom prst="rect">
            <a:avLst/>
          </a:prstGeom>
          <a:noFill/>
          <a:ln w="0">
            <a:noFill/>
          </a:ln>
        </p:spPr>
        <p:txBody>
          <a:bodyPr wrap="square" lIns="0" tIns="0" rIns="0" bIns="0" anchor="t">
            <a:noAutofit/>
          </a:bodyPr>
          <a:lstStyle/>
          <a:p>
            <a:pPr algn="l">
              <a:defRPr sz="2175" b="1">
                <a:solidFill>
                  <a:srgbClr val="267DB1"/>
                </a:solidFill>
                <a:latin typeface="Arial"/>
                <a:ea typeface="Arial"/>
                <a:cs typeface="Arial"/>
              </a:defRPr>
            </a:pPr>
            <a:r>
              <a:rPr sz="2175" b="1">
                <a:solidFill>
                  <a:srgbClr val="267DB1"/>
                </a:solidFill>
                <a:latin typeface="Arial"/>
                <a:ea typeface="Arial"/>
                <a:cs typeface="Arial"/>
              </a:rPr>
              <a:t>6 POI</a:t>
            </a:r>
          </a:p>
        </p:txBody>
      </p:sp>
      <p:sp>
        <p:nvSpPr>
          <p:cNvPr id="3" name="interaction-body-0">
            <a:extLst>
              <a:ext uri="{FF2B5EF4-FFF2-40B4-BE49-F238E27FC236}">
                <a16:creationId xmlns:a16="http://schemas.microsoft.com/office/drawing/2014/main" id="{EC68B7D8-950C-4DDC-9F31-B1DB0AE01FFA}"/>
              </a:ext>
            </a:extLst>
          </p:cNvPr>
          <p:cNvSpPr>
            <a:spLocks noGrp="1"/>
          </p:cNvSpPr>
          <p:nvPr/>
        </p:nvSpPr>
        <p:spPr>
          <a:xfrm>
            <a:off x="685800" y="1914525"/>
            <a:ext cx="5000625" cy="514350"/>
          </a:xfrm>
          <a:prstGeom prst="rect">
            <a:avLst/>
          </a:prstGeom>
          <a:noFill/>
          <a:ln w="0">
            <a:noFill/>
          </a:ln>
        </p:spPr>
        <p:txBody>
          <a:bodyPr wrap="square" lIns="0" tIns="0" rIns="0" bIns="0" anchor="t">
            <a:noAutofit/>
          </a:bodyPr>
          <a:lstStyle/>
          <a:p>
            <a:pPr algn="l">
              <a:defRPr sz="1575" b="0">
                <a:solidFill>
                  <a:srgbClr val="17232D"/>
                </a:solidFill>
                <a:latin typeface="Arial"/>
                <a:ea typeface="Arial"/>
                <a:cs typeface="Arial"/>
              </a:defRPr>
            </a:pPr>
            <a:r>
              <a:rPr sz="1575" b="0">
                <a:solidFill>
                  <a:srgbClr val="17232D"/>
                </a:solidFill>
                <a:latin typeface="Arial"/>
                <a:ea typeface="Arial"/>
                <a:cs typeface="Arial"/>
              </a:rPr>
              <a:t>Informations contextuelles</a:t>
            </a:r>
          </a:p>
        </p:txBody>
      </p:sp>
      <p:sp>
        <p:nvSpPr>
          <p:cNvPr id="4" name="interaction-head-1">
            <a:extLst>
              <a:ext uri="{FF2B5EF4-FFF2-40B4-BE49-F238E27FC236}">
                <a16:creationId xmlns:a16="http://schemas.microsoft.com/office/drawing/2014/main" id="{B8C870CD-2AF3-4FBE-9E79-8135C9A22088}"/>
              </a:ext>
            </a:extLst>
          </p:cNvPr>
          <p:cNvSpPr>
            <a:spLocks noGrp="1"/>
          </p:cNvSpPr>
          <p:nvPr/>
        </p:nvSpPr>
        <p:spPr>
          <a:xfrm>
            <a:off x="685800" y="2543175"/>
            <a:ext cx="5000625" cy="371475"/>
          </a:xfrm>
          <a:prstGeom prst="rect">
            <a:avLst/>
          </a:prstGeom>
          <a:noFill/>
          <a:ln w="0">
            <a:noFill/>
          </a:ln>
        </p:spPr>
        <p:txBody>
          <a:bodyPr wrap="square" lIns="0" tIns="0" rIns="0" bIns="0" anchor="t">
            <a:noAutofit/>
          </a:bodyPr>
          <a:lstStyle/>
          <a:p>
            <a:pPr algn="l">
              <a:defRPr sz="2175" b="1">
                <a:solidFill>
                  <a:srgbClr val="267DB1"/>
                </a:solidFill>
                <a:latin typeface="Arial"/>
                <a:ea typeface="Arial"/>
                <a:cs typeface="Arial"/>
              </a:defRPr>
            </a:pPr>
            <a:r>
              <a:rPr sz="2175" b="1">
                <a:solidFill>
                  <a:srgbClr val="267DB1"/>
                </a:solidFill>
                <a:latin typeface="Arial"/>
                <a:ea typeface="Arial"/>
                <a:cs typeface="Arial"/>
              </a:rPr>
              <a:t>3 interrupteurs</a:t>
            </a:r>
          </a:p>
        </p:txBody>
      </p:sp>
      <p:sp>
        <p:nvSpPr>
          <p:cNvPr id="5" name="interaction-body-1">
            <a:extLst>
              <a:ext uri="{FF2B5EF4-FFF2-40B4-BE49-F238E27FC236}">
                <a16:creationId xmlns:a16="http://schemas.microsoft.com/office/drawing/2014/main" id="{8B21FF7E-1208-4C42-A17F-BBF92FEB7671}"/>
              </a:ext>
            </a:extLst>
          </p:cNvPr>
          <p:cNvSpPr>
            <a:spLocks noGrp="1"/>
          </p:cNvSpPr>
          <p:nvPr/>
        </p:nvSpPr>
        <p:spPr>
          <a:xfrm>
            <a:off x="685800" y="2914650"/>
            <a:ext cx="5000625" cy="514350"/>
          </a:xfrm>
          <a:prstGeom prst="rect">
            <a:avLst/>
          </a:prstGeom>
          <a:noFill/>
          <a:ln w="0">
            <a:noFill/>
          </a:ln>
        </p:spPr>
        <p:txBody>
          <a:bodyPr wrap="square" lIns="0" tIns="0" rIns="0" bIns="0" anchor="t">
            <a:noAutofit/>
          </a:bodyPr>
          <a:lstStyle/>
          <a:p>
            <a:pPr algn="l">
              <a:defRPr sz="1575" b="0">
                <a:solidFill>
                  <a:srgbClr val="17232D"/>
                </a:solidFill>
                <a:latin typeface="Arial"/>
                <a:ea typeface="Arial"/>
                <a:cs typeface="Arial"/>
              </a:defRPr>
            </a:pPr>
            <a:r>
              <a:rPr sz="1575" b="0">
                <a:solidFill>
                  <a:srgbClr val="17232D"/>
                </a:solidFill>
                <a:latin typeface="Arial"/>
                <a:ea typeface="Arial"/>
                <a:cs typeface="Arial"/>
              </a:rPr>
              <a:t>Cuisine, salon, chambre principale</a:t>
            </a:r>
          </a:p>
        </p:txBody>
      </p:sp>
      <p:sp>
        <p:nvSpPr>
          <p:cNvPr id="6" name="interaction-head-2">
            <a:extLst>
              <a:ext uri="{FF2B5EF4-FFF2-40B4-BE49-F238E27FC236}">
                <a16:creationId xmlns:a16="http://schemas.microsoft.com/office/drawing/2014/main" id="{E0454AE3-BF37-4F27-97AD-FEE542A1420F}"/>
              </a:ext>
            </a:extLst>
          </p:cNvPr>
          <p:cNvSpPr>
            <a:spLocks noGrp="1"/>
          </p:cNvSpPr>
          <p:nvPr/>
        </p:nvSpPr>
        <p:spPr>
          <a:xfrm>
            <a:off x="685800" y="3543300"/>
            <a:ext cx="5000625" cy="371475"/>
          </a:xfrm>
          <a:prstGeom prst="rect">
            <a:avLst/>
          </a:prstGeom>
          <a:noFill/>
          <a:ln w="0">
            <a:noFill/>
          </a:ln>
        </p:spPr>
        <p:txBody>
          <a:bodyPr wrap="square" lIns="0" tIns="0" rIns="0" bIns="0" anchor="t">
            <a:noAutofit/>
          </a:bodyPr>
          <a:lstStyle/>
          <a:p>
            <a:pPr algn="l">
              <a:defRPr sz="2175" b="1">
                <a:solidFill>
                  <a:srgbClr val="267DB1"/>
                </a:solidFill>
                <a:latin typeface="Arial"/>
                <a:ea typeface="Arial"/>
                <a:cs typeface="Arial"/>
              </a:defRPr>
            </a:pPr>
            <a:r>
              <a:rPr sz="2175" b="1">
                <a:solidFill>
                  <a:srgbClr val="267DB1"/>
                </a:solidFill>
                <a:latin typeface="Arial"/>
                <a:ea typeface="Arial"/>
                <a:cs typeface="Arial"/>
              </a:rPr>
              <a:t>12 portes battantes</a:t>
            </a:r>
          </a:p>
        </p:txBody>
      </p:sp>
      <p:sp>
        <p:nvSpPr>
          <p:cNvPr id="7" name="interaction-body-2">
            <a:extLst>
              <a:ext uri="{FF2B5EF4-FFF2-40B4-BE49-F238E27FC236}">
                <a16:creationId xmlns:a16="http://schemas.microsoft.com/office/drawing/2014/main" id="{5DE72109-AA4D-4886-8B0F-0FDAF26B62BD}"/>
              </a:ext>
            </a:extLst>
          </p:cNvPr>
          <p:cNvSpPr>
            <a:spLocks noGrp="1"/>
          </p:cNvSpPr>
          <p:nvPr/>
        </p:nvSpPr>
        <p:spPr>
          <a:xfrm>
            <a:off x="685800" y="3914775"/>
            <a:ext cx="5000625" cy="514350"/>
          </a:xfrm>
          <a:prstGeom prst="rect">
            <a:avLst/>
          </a:prstGeom>
          <a:noFill/>
          <a:ln w="0">
            <a:noFill/>
          </a:ln>
        </p:spPr>
        <p:txBody>
          <a:bodyPr wrap="square" lIns="0" tIns="0" rIns="0" bIns="0" anchor="t">
            <a:noAutofit/>
          </a:bodyPr>
          <a:lstStyle/>
          <a:p>
            <a:pPr algn="l">
              <a:defRPr sz="1575" b="0">
                <a:solidFill>
                  <a:srgbClr val="17232D"/>
                </a:solidFill>
                <a:latin typeface="Arial"/>
                <a:ea typeface="Arial"/>
                <a:cs typeface="Arial"/>
              </a:defRPr>
            </a:pPr>
            <a:r>
              <a:rPr sz="1575" b="0">
                <a:solidFill>
                  <a:srgbClr val="17232D"/>
                </a:solidFill>
                <a:latin typeface="Arial"/>
                <a:ea typeface="Arial"/>
                <a:cs typeface="Arial"/>
              </a:rPr>
              <a:t>Et deux paires vitrées coulissantes</a:t>
            </a:r>
          </a:p>
        </p:txBody>
      </p:sp>
      <p:sp>
        <p:nvSpPr>
          <p:cNvPr id="8" name="interaction-head-3">
            <a:extLst>
              <a:ext uri="{FF2B5EF4-FFF2-40B4-BE49-F238E27FC236}">
                <a16:creationId xmlns:a16="http://schemas.microsoft.com/office/drawing/2014/main" id="{AD999446-C1CA-4C10-945C-7B47BDC83792}"/>
              </a:ext>
            </a:extLst>
          </p:cNvPr>
          <p:cNvSpPr>
            <a:spLocks noGrp="1"/>
          </p:cNvSpPr>
          <p:nvPr/>
        </p:nvSpPr>
        <p:spPr>
          <a:xfrm>
            <a:off x="685800" y="4543425"/>
            <a:ext cx="5000625" cy="371475"/>
          </a:xfrm>
          <a:prstGeom prst="rect">
            <a:avLst/>
          </a:prstGeom>
          <a:noFill/>
          <a:ln w="0">
            <a:noFill/>
          </a:ln>
        </p:spPr>
        <p:txBody>
          <a:bodyPr wrap="square" lIns="0" tIns="0" rIns="0" bIns="0" anchor="t">
            <a:noAutofit/>
          </a:bodyPr>
          <a:lstStyle/>
          <a:p>
            <a:pPr algn="l">
              <a:defRPr sz="2175" b="1">
                <a:solidFill>
                  <a:srgbClr val="267DB1"/>
                </a:solidFill>
                <a:latin typeface="Arial"/>
                <a:ea typeface="Arial"/>
                <a:cs typeface="Arial"/>
              </a:defRPr>
            </a:pPr>
            <a:r>
              <a:rPr sz="2175" b="1">
                <a:solidFill>
                  <a:srgbClr val="267DB1"/>
                </a:solidFill>
                <a:latin typeface="Arial"/>
                <a:ea typeface="Arial"/>
                <a:cs typeface="Arial"/>
              </a:rPr>
              <a:t>12 accessoires</a:t>
            </a:r>
          </a:p>
        </p:txBody>
      </p:sp>
      <p:sp>
        <p:nvSpPr>
          <p:cNvPr id="9" name="interaction-body-3">
            <a:extLst>
              <a:ext uri="{FF2B5EF4-FFF2-40B4-BE49-F238E27FC236}">
                <a16:creationId xmlns:a16="http://schemas.microsoft.com/office/drawing/2014/main" id="{53AB127D-EB11-4098-A13B-563FDE463233}"/>
              </a:ext>
            </a:extLst>
          </p:cNvPr>
          <p:cNvSpPr>
            <a:spLocks noGrp="1"/>
          </p:cNvSpPr>
          <p:nvPr/>
        </p:nvSpPr>
        <p:spPr>
          <a:xfrm>
            <a:off x="685800" y="4914900"/>
            <a:ext cx="5000625" cy="514350"/>
          </a:xfrm>
          <a:prstGeom prst="rect">
            <a:avLst/>
          </a:prstGeom>
          <a:noFill/>
          <a:ln w="0">
            <a:noFill/>
          </a:ln>
        </p:spPr>
        <p:txBody>
          <a:bodyPr wrap="square" lIns="0" tIns="0" rIns="0" bIns="0" anchor="t">
            <a:noAutofit/>
          </a:bodyPr>
          <a:lstStyle/>
          <a:p>
            <a:pPr algn="l">
              <a:defRPr sz="1575" b="0">
                <a:solidFill>
                  <a:srgbClr val="17232D"/>
                </a:solidFill>
                <a:latin typeface="Arial"/>
                <a:ea typeface="Arial"/>
                <a:cs typeface="Arial"/>
              </a:defRPr>
            </a:pPr>
            <a:r>
              <a:rPr sz="1575" b="0">
                <a:solidFill>
                  <a:srgbClr val="17232D"/>
                </a:solidFill>
                <a:latin typeface="Arial"/>
                <a:ea typeface="Arial"/>
                <a:cs typeface="Arial"/>
              </a:rPr>
              <a:t>Objets saisissables à la poignée</a:t>
            </a:r>
          </a:p>
        </p:txBody>
      </p:sp>
      <p:pic>
        <p:nvPicPr>
          <p:cNvPr id="22" name="Image 21"/>
          <p:cNvPicPr>
            <a:picLocks noChangeAspect="1"/>
          </p:cNvPicPr>
          <p:nvPr/>
        </p:nvPicPr>
        <p:blipFill>
          <a:blip r:embed="rId3"/>
          <a:srcRect l="19" r="19"/>
          <a:stretch>
            <a:fillRect/>
          </a:stretch>
        </p:blipFill>
        <p:spPr>
          <a:xfrm>
            <a:off x="6038850" y="1676400"/>
            <a:ext cx="5467350" cy="3076575"/>
          </a:xfrm>
          <a:prstGeom prst="rect">
            <a:avLst/>
          </a:prstGeom>
        </p:spPr>
      </p:pic>
      <p:sp>
        <p:nvSpPr>
          <p:cNvPr id="11" name="interaction-limit">
            <a:extLst>
              <a:ext uri="{FF2B5EF4-FFF2-40B4-BE49-F238E27FC236}">
                <a16:creationId xmlns:a16="http://schemas.microsoft.com/office/drawing/2014/main" id="{C1753DCB-67B7-4A71-92BA-A77B63C023EB}"/>
              </a:ext>
            </a:extLst>
          </p:cNvPr>
          <p:cNvSpPr>
            <a:spLocks noGrp="1"/>
          </p:cNvSpPr>
          <p:nvPr/>
        </p:nvSpPr>
        <p:spPr>
          <a:xfrm>
            <a:off x="6038850" y="4962525"/>
            <a:ext cx="5467350" cy="523875"/>
          </a:xfrm>
          <a:prstGeom prst="rect">
            <a:avLst/>
          </a:prstGeom>
          <a:noFill/>
          <a:ln w="0">
            <a:noFill/>
          </a:ln>
        </p:spPr>
        <p:txBody>
          <a:bodyPr wrap="square" lIns="0" tIns="0" rIns="0" bIns="0" anchor="t">
            <a:noAutofit/>
          </a:bodyPr>
          <a:lstStyle/>
          <a:p>
            <a:pPr algn="l">
              <a:defRPr sz="1500" b="0">
                <a:solidFill>
                  <a:srgbClr val="4C6574"/>
                </a:solidFill>
                <a:latin typeface="Arial"/>
                <a:ea typeface="Arial"/>
                <a:cs typeface="Arial"/>
              </a:defRPr>
            </a:pPr>
            <a:r>
              <a:rPr sz="1500" b="0">
                <a:solidFill>
                  <a:srgbClr val="4C6574"/>
                </a:solidFill>
                <a:latin typeface="Arial"/>
                <a:ea typeface="Arial"/>
                <a:cs typeface="Arial"/>
              </a:rPr>
              <a:t>Comportements vérifiés en Play Mode Unity.</a:t>
            </a:r>
          </a:p>
        </p:txBody>
      </p:sp>
      <p:sp>
        <p:nvSpPr>
          <p:cNvPr id="12" name="unity-caption">
            <a:extLst>
              <a:ext uri="{FF2B5EF4-FFF2-40B4-BE49-F238E27FC236}">
                <a16:creationId xmlns:a16="http://schemas.microsoft.com/office/drawing/2014/main" id="{3235B9C1-F8E9-424A-AD93-9239411E65E9}"/>
              </a:ext>
            </a:extLst>
          </p:cNvPr>
          <p:cNvSpPr>
            <a:spLocks noGrp="1"/>
          </p:cNvSpPr>
          <p:nvPr/>
        </p:nvSpPr>
        <p:spPr>
          <a:xfrm>
            <a:off x="685800" y="6391275"/>
            <a:ext cx="8572500" cy="266700"/>
          </a:xfrm>
          <a:prstGeom prst="rect">
            <a:avLst/>
          </a:prstGeom>
          <a:noFill/>
          <a:ln w="0">
            <a:noFill/>
          </a:ln>
        </p:spPr>
        <p:txBody>
          <a:bodyPr wrap="square" lIns="0" tIns="0" rIns="0" bIns="0" anchor="t">
            <a:noAutofit/>
          </a:bodyPr>
          <a:lstStyle/>
          <a:p>
            <a:pPr algn="l">
              <a:defRPr sz="1200" b="0">
                <a:solidFill>
                  <a:srgbClr val="4C6574"/>
                </a:solidFill>
                <a:latin typeface="Arial"/>
                <a:ea typeface="Arial"/>
                <a:cs typeface="Arial"/>
              </a:defRPr>
            </a:pPr>
            <a:r>
              <a:rPr sz="1200" b="0">
                <a:solidFill>
                  <a:srgbClr val="4C6574"/>
                </a:solidFill>
                <a:latin typeface="Arial"/>
                <a:ea typeface="Arial"/>
                <a:cs typeface="Arial"/>
              </a:rPr>
              <a:t>Captures de la scène Unity, pas du Quest 3 autonome</a:t>
            </a:r>
          </a:p>
        </p:txBody>
      </p:sp>
    </p:spTree>
    <p:extLst>
      <p:ext uri="{BB962C8B-B14F-4D97-AF65-F5344CB8AC3E}">
        <p14:creationId xmlns:p14="http://schemas.microsoft.com/office/powerpoint/2010/main" val="1942993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10" name="title-Architecture et collisions">
            <a:extLst>
              <a:ext uri="{FF2B5EF4-FFF2-40B4-BE49-F238E27FC236}">
                <a16:creationId xmlns:a16="http://schemas.microsoft.com/office/drawing/2014/main" id="{A1420918-80BB-4948-8F32-19AED2B9A8CE}"/>
              </a:ext>
            </a:extLst>
          </p:cNvPr>
          <p:cNvSpPr>
            <a:spLocks noGrp="1"/>
          </p:cNvSpPr>
          <p:nvPr/>
        </p:nvSpPr>
        <p:spPr>
          <a:xfrm>
            <a:off x="685800" y="552450"/>
            <a:ext cx="10820400" cy="723900"/>
          </a:xfrm>
          <a:prstGeom prst="rect">
            <a:avLst/>
          </a:prstGeom>
          <a:noFill/>
          <a:ln w="0">
            <a:noFill/>
          </a:ln>
        </p:spPr>
        <p:txBody>
          <a:bodyPr wrap="square" lIns="0" tIns="0" rIns="0" bIns="0" anchor="t">
            <a:noAutofit/>
          </a:bodyPr>
          <a:lstStyle/>
          <a:p>
            <a:pPr algn="l">
              <a:defRPr sz="3225" b="1">
                <a:solidFill>
                  <a:srgbClr val="FFFFFF"/>
                </a:solidFill>
                <a:latin typeface="Arial"/>
                <a:ea typeface="Arial"/>
                <a:cs typeface="Arial"/>
              </a:defRPr>
            </a:pPr>
            <a:r>
              <a:rPr sz="3225" b="1">
                <a:solidFill>
                  <a:srgbClr val="FFFFFF"/>
                </a:solidFill>
                <a:latin typeface="Arial"/>
                <a:ea typeface="Arial"/>
                <a:cs typeface="Arial"/>
              </a:rPr>
              <a:t>Architecture et collisions</a:t>
            </a:r>
          </a:p>
        </p:txBody>
      </p:sp>
      <p:sp>
        <p:nvSpPr>
          <p:cNvPr id="2" name="tech-stack">
            <a:extLst>
              <a:ext uri="{FF2B5EF4-FFF2-40B4-BE49-F238E27FC236}">
                <a16:creationId xmlns:a16="http://schemas.microsoft.com/office/drawing/2014/main" id="{01DDC179-2C48-42EC-81BC-D9A48DBDB6F7}"/>
              </a:ext>
            </a:extLst>
          </p:cNvPr>
          <p:cNvSpPr>
            <a:spLocks noGrp="1"/>
          </p:cNvSpPr>
          <p:nvPr/>
        </p:nvSpPr>
        <p:spPr>
          <a:xfrm>
            <a:off x="685800" y="1676400"/>
            <a:ext cx="4953000" cy="971550"/>
          </a:xfrm>
          <a:prstGeom prst="rect">
            <a:avLst/>
          </a:prstGeom>
          <a:noFill/>
          <a:ln w="0">
            <a:noFill/>
          </a:ln>
        </p:spPr>
        <p:txBody>
          <a:bodyPr wrap="square" lIns="0" tIns="0" rIns="0" bIns="0" anchor="t">
            <a:noAutofit/>
          </a:bodyPr>
          <a:lstStyle/>
          <a:p>
            <a:pPr algn="l">
              <a:defRPr sz="1950" b="0">
                <a:solidFill>
                  <a:srgbClr val="DCE8EE"/>
                </a:solidFill>
                <a:latin typeface="Arial"/>
                <a:ea typeface="Arial"/>
                <a:cs typeface="Arial"/>
              </a:defRPr>
            </a:pPr>
            <a:r>
              <a:rPr sz="1950" b="0">
                <a:solidFill>
                  <a:srgbClr val="DCE8EE"/>
                </a:solidFill>
                <a:latin typeface="Arial"/>
                <a:ea typeface="Arial"/>
                <a:cs typeface="Arial"/>
              </a:rPr>
              <a:t>Unity 6</a:t>
            </a:r>
          </a:p>
          <a:p>
            <a:pPr algn="l">
              <a:defRPr sz="1950" b="0">
                <a:solidFill>
                  <a:srgbClr val="DCE8EE"/>
                </a:solidFill>
                <a:latin typeface="Arial"/>
                <a:ea typeface="Arial"/>
                <a:cs typeface="Arial"/>
              </a:defRPr>
            </a:pPr>
            <a:r>
              <a:rPr sz="1950" b="0">
                <a:solidFill>
                  <a:srgbClr val="DCE8EE"/>
                </a:solidFill>
                <a:latin typeface="Arial"/>
                <a:ea typeface="Arial"/>
                <a:cs typeface="Arial"/>
              </a:rPr>
              <a:t>OpenXR et XR Interaction Toolkit</a:t>
            </a:r>
          </a:p>
        </p:txBody>
      </p:sp>
      <p:sp>
        <p:nvSpPr>
          <p:cNvPr id="3" name="collider-number">
            <a:extLst>
              <a:ext uri="{FF2B5EF4-FFF2-40B4-BE49-F238E27FC236}">
                <a16:creationId xmlns:a16="http://schemas.microsoft.com/office/drawing/2014/main" id="{D183E2A1-96C8-4003-9827-B72F5132BDE1}"/>
              </a:ext>
            </a:extLst>
          </p:cNvPr>
          <p:cNvSpPr>
            <a:spLocks noGrp="1"/>
          </p:cNvSpPr>
          <p:nvPr/>
        </p:nvSpPr>
        <p:spPr>
          <a:xfrm>
            <a:off x="685800" y="3000375"/>
            <a:ext cx="2381250" cy="923925"/>
          </a:xfrm>
          <a:prstGeom prst="rect">
            <a:avLst/>
          </a:prstGeom>
          <a:noFill/>
          <a:ln w="0">
            <a:noFill/>
          </a:ln>
        </p:spPr>
        <p:txBody>
          <a:bodyPr wrap="square" lIns="0" tIns="0" rIns="0" bIns="0" anchor="t">
            <a:noAutofit/>
          </a:bodyPr>
          <a:lstStyle/>
          <a:p>
            <a:pPr algn="l">
              <a:defRPr sz="5175" b="1">
                <a:solidFill>
                  <a:srgbClr val="FFFFFF"/>
                </a:solidFill>
                <a:latin typeface="Arial"/>
                <a:ea typeface="Arial"/>
                <a:cs typeface="Arial"/>
              </a:defRPr>
            </a:pPr>
            <a:r>
              <a:rPr sz="5175" b="1">
                <a:solidFill>
                  <a:srgbClr val="FFFFFF"/>
                </a:solidFill>
                <a:latin typeface="Arial"/>
                <a:ea typeface="Arial"/>
                <a:cs typeface="Arial"/>
              </a:rPr>
              <a:t>178</a:t>
            </a:r>
          </a:p>
        </p:txBody>
      </p:sp>
      <p:sp>
        <p:nvSpPr>
          <p:cNvPr id="4" name="collider-label">
            <a:extLst>
              <a:ext uri="{FF2B5EF4-FFF2-40B4-BE49-F238E27FC236}">
                <a16:creationId xmlns:a16="http://schemas.microsoft.com/office/drawing/2014/main" id="{26190399-5D9A-4EB6-95F6-D53EB7C854DD}"/>
              </a:ext>
            </a:extLst>
          </p:cNvPr>
          <p:cNvSpPr>
            <a:spLocks noGrp="1"/>
          </p:cNvSpPr>
          <p:nvPr/>
        </p:nvSpPr>
        <p:spPr>
          <a:xfrm>
            <a:off x="685800" y="3886200"/>
            <a:ext cx="4762500" cy="447675"/>
          </a:xfrm>
          <a:prstGeom prst="rect">
            <a:avLst/>
          </a:prstGeom>
          <a:noFill/>
          <a:ln w="0">
            <a:noFill/>
          </a:ln>
        </p:spPr>
        <p:txBody>
          <a:bodyPr wrap="square" lIns="0" tIns="0" rIns="0" bIns="0" anchor="t">
            <a:noAutofit/>
          </a:bodyPr>
          <a:lstStyle/>
          <a:p>
            <a:pPr algn="l">
              <a:defRPr sz="2325" b="1">
                <a:solidFill>
                  <a:srgbClr val="FFFFFF"/>
                </a:solidFill>
                <a:latin typeface="Arial"/>
                <a:ea typeface="Arial"/>
                <a:cs typeface="Arial"/>
              </a:defRPr>
            </a:pPr>
            <a:r>
              <a:rPr sz="2325" b="1">
                <a:solidFill>
                  <a:srgbClr val="FFFFFF"/>
                </a:solidFill>
                <a:latin typeface="Arial"/>
                <a:ea typeface="Arial"/>
                <a:cs typeface="Arial"/>
              </a:rPr>
              <a:t>BoxColliders</a:t>
            </a:r>
          </a:p>
        </p:txBody>
      </p:sp>
      <p:sp>
        <p:nvSpPr>
          <p:cNvPr id="5" name="collider-detail">
            <a:extLst>
              <a:ext uri="{FF2B5EF4-FFF2-40B4-BE49-F238E27FC236}">
                <a16:creationId xmlns:a16="http://schemas.microsoft.com/office/drawing/2014/main" id="{752FF469-06B0-45B2-AA7D-A5E9EFB40C11}"/>
              </a:ext>
            </a:extLst>
          </p:cNvPr>
          <p:cNvSpPr>
            <a:spLocks noGrp="1"/>
          </p:cNvSpPr>
          <p:nvPr/>
        </p:nvSpPr>
        <p:spPr>
          <a:xfrm>
            <a:off x="685800" y="4495800"/>
            <a:ext cx="4953000" cy="771525"/>
          </a:xfrm>
          <a:prstGeom prst="rect">
            <a:avLst/>
          </a:prstGeom>
          <a:noFill/>
          <a:ln w="0">
            <a:noFill/>
          </a:ln>
        </p:spPr>
        <p:txBody>
          <a:bodyPr wrap="square" lIns="0" tIns="0" rIns="0" bIns="0" anchor="t">
            <a:noAutofit/>
          </a:bodyPr>
          <a:lstStyle/>
          <a:p>
            <a:pPr algn="l">
              <a:defRPr sz="1575" b="0">
                <a:solidFill>
                  <a:srgbClr val="DCE8EE"/>
                </a:solidFill>
                <a:latin typeface="Arial"/>
                <a:ea typeface="Arial"/>
                <a:cs typeface="Arial"/>
              </a:defRPr>
            </a:pPr>
            <a:r>
              <a:rPr sz="1575" b="0" dirty="0">
                <a:solidFill>
                  <a:srgbClr val="DCE8EE"/>
                </a:solidFill>
                <a:latin typeface="Arial"/>
                <a:ea typeface="Arial"/>
                <a:cs typeface="Arial"/>
              </a:rPr>
              <a:t>150 </a:t>
            </a:r>
            <a:r>
              <a:rPr lang="fr-FR" sz="1575" b="0" dirty="0">
                <a:solidFill>
                  <a:srgbClr val="DCE8EE"/>
                </a:solidFill>
                <a:latin typeface="Arial"/>
                <a:ea typeface="Arial"/>
                <a:cs typeface="Arial"/>
              </a:rPr>
              <a:t>environnements</a:t>
            </a:r>
            <a:r>
              <a:rPr sz="1575" b="0" dirty="0">
                <a:solidFill>
                  <a:srgbClr val="DCE8EE"/>
                </a:solidFill>
                <a:latin typeface="Arial"/>
                <a:ea typeface="Arial"/>
                <a:cs typeface="Arial"/>
              </a:rPr>
              <a:t>, 16 </a:t>
            </a:r>
            <a:r>
              <a:rPr sz="1575" b="0" dirty="0" err="1">
                <a:solidFill>
                  <a:srgbClr val="DCE8EE"/>
                </a:solidFill>
                <a:latin typeface="Arial"/>
                <a:ea typeface="Arial"/>
                <a:cs typeface="Arial"/>
              </a:rPr>
              <a:t>portes</a:t>
            </a:r>
            <a:r>
              <a:rPr sz="1575" b="0" dirty="0">
                <a:solidFill>
                  <a:srgbClr val="DCE8EE"/>
                </a:solidFill>
                <a:latin typeface="Arial"/>
                <a:ea typeface="Arial"/>
                <a:cs typeface="Arial"/>
              </a:rPr>
              <a:t>, 12 </a:t>
            </a:r>
            <a:r>
              <a:rPr sz="1575" b="0" dirty="0" err="1">
                <a:solidFill>
                  <a:srgbClr val="DCE8EE"/>
                </a:solidFill>
                <a:latin typeface="Arial"/>
                <a:ea typeface="Arial"/>
                <a:cs typeface="Arial"/>
              </a:rPr>
              <a:t>objets</a:t>
            </a:r>
            <a:endParaRPr sz="1575" b="0" dirty="0">
              <a:solidFill>
                <a:srgbClr val="DCE8EE"/>
              </a:solidFill>
              <a:latin typeface="Arial"/>
              <a:ea typeface="Arial"/>
              <a:cs typeface="Arial"/>
            </a:endParaRPr>
          </a:p>
          <a:p>
            <a:pPr algn="l">
              <a:defRPr sz="1575" b="0">
                <a:solidFill>
                  <a:srgbClr val="DCE8EE"/>
                </a:solidFill>
                <a:latin typeface="Arial"/>
                <a:ea typeface="Arial"/>
                <a:cs typeface="Arial"/>
              </a:defRPr>
            </a:pPr>
            <a:r>
              <a:rPr sz="1575" b="0" dirty="0">
                <a:solidFill>
                  <a:srgbClr val="DCE8EE"/>
                </a:solidFill>
                <a:latin typeface="Arial"/>
                <a:ea typeface="Arial"/>
                <a:cs typeface="Arial"/>
              </a:rPr>
              <a:t>0 </a:t>
            </a:r>
            <a:r>
              <a:rPr sz="1575" b="0" dirty="0" err="1">
                <a:solidFill>
                  <a:srgbClr val="DCE8EE"/>
                </a:solidFill>
                <a:latin typeface="Arial"/>
                <a:ea typeface="Arial"/>
                <a:cs typeface="Arial"/>
              </a:rPr>
              <a:t>MeshCollider</a:t>
            </a:r>
            <a:r>
              <a:rPr sz="1575" b="0" dirty="0">
                <a:solidFill>
                  <a:srgbClr val="DCE8EE"/>
                </a:solidFill>
                <a:latin typeface="Arial"/>
                <a:ea typeface="Arial"/>
                <a:cs typeface="Arial"/>
              </a:rPr>
              <a:t> </a:t>
            </a:r>
            <a:r>
              <a:rPr sz="1575" b="0" dirty="0" err="1">
                <a:solidFill>
                  <a:srgbClr val="DCE8EE"/>
                </a:solidFill>
                <a:latin typeface="Arial"/>
                <a:ea typeface="Arial"/>
                <a:cs typeface="Arial"/>
              </a:rPr>
              <a:t>détaillé</a:t>
            </a:r>
            <a:endParaRPr sz="1575" b="0" dirty="0">
              <a:solidFill>
                <a:srgbClr val="DCE8EE"/>
              </a:solidFill>
              <a:latin typeface="Arial"/>
              <a:ea typeface="Arial"/>
              <a:cs typeface="Arial"/>
            </a:endParaRPr>
          </a:p>
        </p:txBody>
      </p:sp>
      <p:sp>
        <p:nvSpPr>
          <p:cNvPr id="6" name="tech-platform">
            <a:extLst>
              <a:ext uri="{FF2B5EF4-FFF2-40B4-BE49-F238E27FC236}">
                <a16:creationId xmlns:a16="http://schemas.microsoft.com/office/drawing/2014/main" id="{78DCCD3F-9CBF-449D-B705-635BBF5DB86B}"/>
              </a:ext>
            </a:extLst>
          </p:cNvPr>
          <p:cNvSpPr>
            <a:spLocks noGrp="1"/>
          </p:cNvSpPr>
          <p:nvPr/>
        </p:nvSpPr>
        <p:spPr>
          <a:xfrm>
            <a:off x="685800" y="5619750"/>
            <a:ext cx="4953000" cy="361950"/>
          </a:xfrm>
          <a:prstGeom prst="rect">
            <a:avLst/>
          </a:prstGeom>
          <a:noFill/>
          <a:ln w="0">
            <a:noFill/>
          </a:ln>
        </p:spPr>
        <p:txBody>
          <a:bodyPr wrap="square" lIns="0" tIns="0" rIns="0" bIns="0" anchor="t">
            <a:noAutofit/>
          </a:bodyPr>
          <a:lstStyle/>
          <a:p>
            <a:pPr algn="l">
              <a:defRPr sz="1500" b="0">
                <a:solidFill>
                  <a:srgbClr val="DCE8EE"/>
                </a:solidFill>
                <a:latin typeface="Arial"/>
                <a:ea typeface="Arial"/>
                <a:cs typeface="Arial"/>
              </a:defRPr>
            </a:pPr>
            <a:r>
              <a:rPr sz="1500" b="0">
                <a:solidFill>
                  <a:srgbClr val="DCE8EE"/>
                </a:solidFill>
                <a:latin typeface="Arial"/>
                <a:ea typeface="Arial"/>
                <a:cs typeface="Arial"/>
              </a:rPr>
              <a:t>Cible Android ARM64 avec Vulkan</a:t>
            </a:r>
          </a:p>
        </p:txBody>
      </p:sp>
      <p:pic>
        <p:nvPicPr>
          <p:cNvPr id="16" name="Image 15"/>
          <p:cNvPicPr>
            <a:picLocks noChangeAspect="1"/>
          </p:cNvPicPr>
          <p:nvPr/>
        </p:nvPicPr>
        <p:blipFill>
          <a:blip r:embed="rId3"/>
          <a:srcRect l="93" r="93"/>
          <a:stretch>
            <a:fillRect/>
          </a:stretch>
        </p:blipFill>
        <p:spPr>
          <a:xfrm>
            <a:off x="5810250" y="1800225"/>
            <a:ext cx="5695950" cy="3209925"/>
          </a:xfrm>
          <a:prstGeom prst="rect">
            <a:avLst/>
          </a:prstGeom>
        </p:spPr>
      </p:pic>
      <p:sp>
        <p:nvSpPr>
          <p:cNvPr id="8" name="collider-why">
            <a:extLst>
              <a:ext uri="{FF2B5EF4-FFF2-40B4-BE49-F238E27FC236}">
                <a16:creationId xmlns:a16="http://schemas.microsoft.com/office/drawing/2014/main" id="{030AA7DA-3BCC-40AA-92DA-DA2C0762883B}"/>
              </a:ext>
            </a:extLst>
          </p:cNvPr>
          <p:cNvSpPr>
            <a:spLocks noGrp="1"/>
          </p:cNvSpPr>
          <p:nvPr/>
        </p:nvSpPr>
        <p:spPr>
          <a:xfrm>
            <a:off x="5810250" y="5257800"/>
            <a:ext cx="5695950" cy="647700"/>
          </a:xfrm>
          <a:prstGeom prst="rect">
            <a:avLst/>
          </a:prstGeom>
          <a:noFill/>
          <a:ln w="0">
            <a:noFill/>
          </a:ln>
        </p:spPr>
        <p:txBody>
          <a:bodyPr wrap="square" lIns="0" tIns="0" rIns="0" bIns="0" anchor="t">
            <a:noAutofit/>
          </a:bodyPr>
          <a:lstStyle/>
          <a:p>
            <a:pPr algn="l">
              <a:defRPr sz="1500" b="0">
                <a:solidFill>
                  <a:srgbClr val="DCE8EE"/>
                </a:solidFill>
                <a:latin typeface="Arial"/>
                <a:ea typeface="Arial"/>
                <a:cs typeface="Arial"/>
              </a:defRPr>
            </a:pPr>
            <a:r>
              <a:rPr sz="1500" b="0">
                <a:solidFill>
                  <a:srgbClr val="DCE8EE"/>
                </a:solidFill>
                <a:latin typeface="Arial"/>
                <a:ea typeface="Arial"/>
                <a:cs typeface="Arial"/>
              </a:rPr>
              <a:t>Rampes invisibles pour l’escalier et les transitions extérieures.</a:t>
            </a:r>
          </a:p>
        </p:txBody>
      </p:sp>
      <p:sp>
        <p:nvSpPr>
          <p:cNvPr id="9" name="unity-caption">
            <a:extLst>
              <a:ext uri="{FF2B5EF4-FFF2-40B4-BE49-F238E27FC236}">
                <a16:creationId xmlns:a16="http://schemas.microsoft.com/office/drawing/2014/main" id="{B5F88213-8960-4184-8F74-E611AE961520}"/>
              </a:ext>
            </a:extLst>
          </p:cNvPr>
          <p:cNvSpPr>
            <a:spLocks noGrp="1"/>
          </p:cNvSpPr>
          <p:nvPr/>
        </p:nvSpPr>
        <p:spPr>
          <a:xfrm>
            <a:off x="685800" y="6391275"/>
            <a:ext cx="8572500" cy="266700"/>
          </a:xfrm>
          <a:prstGeom prst="rect">
            <a:avLst/>
          </a:prstGeom>
          <a:noFill/>
          <a:ln w="0">
            <a:noFill/>
          </a:ln>
        </p:spPr>
        <p:txBody>
          <a:bodyPr wrap="square" lIns="0" tIns="0" rIns="0" bIns="0" anchor="t">
            <a:noAutofit/>
          </a:bodyPr>
          <a:lstStyle/>
          <a:p>
            <a:pPr algn="l">
              <a:defRPr sz="1200" b="0">
                <a:solidFill>
                  <a:srgbClr val="DCE8EE"/>
                </a:solidFill>
                <a:latin typeface="Arial"/>
                <a:ea typeface="Arial"/>
                <a:cs typeface="Arial"/>
              </a:defRPr>
            </a:pPr>
            <a:r>
              <a:rPr sz="1200" b="0">
                <a:solidFill>
                  <a:srgbClr val="DCE8EE"/>
                </a:solidFill>
                <a:latin typeface="Arial"/>
                <a:ea typeface="Arial"/>
                <a:cs typeface="Arial"/>
              </a:rPr>
              <a:t>Captures de la scène Unity, pas du Quest 3 autonome</a:t>
            </a:r>
          </a:p>
        </p:txBody>
      </p:sp>
    </p:spTree>
    <p:extLst>
      <p:ext uri="{BB962C8B-B14F-4D97-AF65-F5344CB8AC3E}">
        <p14:creationId xmlns:p14="http://schemas.microsoft.com/office/powerpoint/2010/main" val="1585047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6"/>
        </a:solidFill>
        <a:effectLst/>
      </p:bgPr>
    </p:bg>
    <p:spTree>
      <p:nvGrpSpPr>
        <p:cNvPr id="1" name=""/>
        <p:cNvGrpSpPr/>
        <p:nvPr/>
      </p:nvGrpSpPr>
      <p:grpSpPr>
        <a:xfrm>
          <a:off x="0" y="0"/>
          <a:ext cx="0" cy="0"/>
          <a:chOff x="0" y="0"/>
          <a:chExt cx="0" cy="0"/>
        </a:xfrm>
      </p:grpSpPr>
      <p:sp>
        <p:nvSpPr>
          <p:cNvPr id="8" name="title-Polissage visuel dans Unity">
            <a:extLst>
              <a:ext uri="{FF2B5EF4-FFF2-40B4-BE49-F238E27FC236}">
                <a16:creationId xmlns:a16="http://schemas.microsoft.com/office/drawing/2014/main" id="{A0B7496E-10AC-4FC7-8B56-A8ACA6E9366C}"/>
              </a:ext>
            </a:extLst>
          </p:cNvPr>
          <p:cNvSpPr>
            <a:spLocks noGrp="1"/>
          </p:cNvSpPr>
          <p:nvPr/>
        </p:nvSpPr>
        <p:spPr>
          <a:xfrm>
            <a:off x="685800" y="552450"/>
            <a:ext cx="10820400" cy="723900"/>
          </a:xfrm>
          <a:prstGeom prst="rect">
            <a:avLst/>
          </a:prstGeom>
          <a:noFill/>
          <a:ln w="0">
            <a:noFill/>
          </a:ln>
        </p:spPr>
        <p:txBody>
          <a:bodyPr wrap="square" lIns="0" tIns="0" rIns="0" bIns="0" anchor="t">
            <a:noAutofit/>
          </a:bodyPr>
          <a:lstStyle/>
          <a:p>
            <a:pPr algn="l">
              <a:defRPr sz="3225" b="1">
                <a:solidFill>
                  <a:srgbClr val="17232D"/>
                </a:solidFill>
                <a:latin typeface="Arial"/>
                <a:ea typeface="Arial"/>
                <a:cs typeface="Arial"/>
              </a:defRPr>
            </a:pPr>
            <a:r>
              <a:rPr sz="3225" b="1">
                <a:solidFill>
                  <a:srgbClr val="17232D"/>
                </a:solidFill>
                <a:latin typeface="Arial"/>
                <a:ea typeface="Arial"/>
                <a:cs typeface="Arial"/>
              </a:rPr>
              <a:t>Polissage visuel dans Unity</a:t>
            </a:r>
          </a:p>
        </p:txBody>
      </p:sp>
      <p:sp>
        <p:nvSpPr>
          <p:cNvPr id="2" name="before-label">
            <a:extLst>
              <a:ext uri="{FF2B5EF4-FFF2-40B4-BE49-F238E27FC236}">
                <a16:creationId xmlns:a16="http://schemas.microsoft.com/office/drawing/2014/main" id="{1A8B5003-8103-480C-B506-FCFD6394BA4D}"/>
              </a:ext>
            </a:extLst>
          </p:cNvPr>
          <p:cNvSpPr>
            <a:spLocks noGrp="1"/>
          </p:cNvSpPr>
          <p:nvPr/>
        </p:nvSpPr>
        <p:spPr>
          <a:xfrm>
            <a:off x="685800" y="1543050"/>
            <a:ext cx="5048250" cy="361950"/>
          </a:xfrm>
          <a:prstGeom prst="rect">
            <a:avLst/>
          </a:prstGeom>
          <a:noFill/>
          <a:ln w="0">
            <a:noFill/>
          </a:ln>
        </p:spPr>
        <p:txBody>
          <a:bodyPr wrap="square" lIns="0" tIns="0" rIns="0" bIns="0" anchor="t">
            <a:noAutofit/>
          </a:bodyPr>
          <a:lstStyle/>
          <a:p>
            <a:pPr algn="l">
              <a:defRPr sz="1650" b="1">
                <a:solidFill>
                  <a:srgbClr val="4C6574"/>
                </a:solidFill>
                <a:latin typeface="Arial"/>
                <a:ea typeface="Arial"/>
                <a:cs typeface="Arial"/>
              </a:defRPr>
            </a:pPr>
            <a:r>
              <a:rPr sz="1650" b="1">
                <a:solidFill>
                  <a:srgbClr val="4C6574"/>
                </a:solidFill>
                <a:latin typeface="Arial"/>
                <a:ea typeface="Arial"/>
                <a:cs typeface="Arial"/>
              </a:rPr>
              <a:t>AVANT</a:t>
            </a:r>
          </a:p>
        </p:txBody>
      </p:sp>
      <p:sp>
        <p:nvSpPr>
          <p:cNvPr id="3" name="after-label">
            <a:extLst>
              <a:ext uri="{FF2B5EF4-FFF2-40B4-BE49-F238E27FC236}">
                <a16:creationId xmlns:a16="http://schemas.microsoft.com/office/drawing/2014/main" id="{B834F6B8-317E-46C8-ADEE-34BA2573FC8A}"/>
              </a:ext>
            </a:extLst>
          </p:cNvPr>
          <p:cNvSpPr>
            <a:spLocks noGrp="1"/>
          </p:cNvSpPr>
          <p:nvPr/>
        </p:nvSpPr>
        <p:spPr>
          <a:xfrm>
            <a:off x="6381750" y="1543050"/>
            <a:ext cx="5048250" cy="361950"/>
          </a:xfrm>
          <a:prstGeom prst="rect">
            <a:avLst/>
          </a:prstGeom>
          <a:noFill/>
          <a:ln w="0">
            <a:noFill/>
          </a:ln>
        </p:spPr>
        <p:txBody>
          <a:bodyPr wrap="square" lIns="0" tIns="0" rIns="0" bIns="0" anchor="t">
            <a:noAutofit/>
          </a:bodyPr>
          <a:lstStyle/>
          <a:p>
            <a:pPr algn="l">
              <a:defRPr sz="1650" b="1">
                <a:solidFill>
                  <a:srgbClr val="267DB1"/>
                </a:solidFill>
                <a:latin typeface="Arial"/>
                <a:ea typeface="Arial"/>
                <a:cs typeface="Arial"/>
              </a:defRPr>
            </a:pPr>
            <a:r>
              <a:rPr sz="1650" b="1">
                <a:solidFill>
                  <a:srgbClr val="267DB1"/>
                </a:solidFill>
                <a:latin typeface="Arial"/>
                <a:ea typeface="Arial"/>
                <a:cs typeface="Arial"/>
              </a:rPr>
              <a:t>APRÈS</a:t>
            </a:r>
          </a:p>
        </p:txBody>
      </p:sp>
      <p:pic>
        <p:nvPicPr>
          <p:cNvPr id="11" name="Image 10"/>
          <p:cNvPicPr>
            <a:picLocks noChangeAspect="1"/>
          </p:cNvPicPr>
          <p:nvPr/>
        </p:nvPicPr>
        <p:blipFill>
          <a:blip r:embed="rId3"/>
          <a:srcRect l="62" r="62"/>
          <a:stretch>
            <a:fillRect/>
          </a:stretch>
        </p:blipFill>
        <p:spPr>
          <a:xfrm>
            <a:off x="685800" y="1943100"/>
            <a:ext cx="5124450" cy="2886075"/>
          </a:xfrm>
          <a:prstGeom prst="rect">
            <a:avLst/>
          </a:prstGeom>
        </p:spPr>
      </p:pic>
      <p:pic>
        <p:nvPicPr>
          <p:cNvPr id="12" name="Image 11"/>
          <p:cNvPicPr>
            <a:picLocks noChangeAspect="1"/>
          </p:cNvPicPr>
          <p:nvPr/>
        </p:nvPicPr>
        <p:blipFill>
          <a:blip r:embed="rId4"/>
          <a:srcRect l="62" r="62"/>
          <a:stretch>
            <a:fillRect/>
          </a:stretch>
        </p:blipFill>
        <p:spPr>
          <a:xfrm>
            <a:off x="6381750" y="1943100"/>
            <a:ext cx="5124450" cy="2886075"/>
          </a:xfrm>
          <a:prstGeom prst="rect">
            <a:avLst/>
          </a:prstGeom>
        </p:spPr>
      </p:pic>
      <p:sp>
        <p:nvSpPr>
          <p:cNvPr id="6" name="polish-summary">
            <a:extLst>
              <a:ext uri="{FF2B5EF4-FFF2-40B4-BE49-F238E27FC236}">
                <a16:creationId xmlns:a16="http://schemas.microsoft.com/office/drawing/2014/main" id="{6354B608-CBB1-48A2-B8B6-081AE0DE7B82}"/>
              </a:ext>
            </a:extLst>
          </p:cNvPr>
          <p:cNvSpPr>
            <a:spLocks noGrp="1"/>
          </p:cNvSpPr>
          <p:nvPr/>
        </p:nvSpPr>
        <p:spPr>
          <a:xfrm>
            <a:off x="685800" y="5191125"/>
            <a:ext cx="10820400" cy="638175"/>
          </a:xfrm>
          <a:prstGeom prst="rect">
            <a:avLst/>
          </a:prstGeom>
          <a:noFill/>
          <a:ln w="0">
            <a:noFill/>
          </a:ln>
        </p:spPr>
        <p:txBody>
          <a:bodyPr wrap="square" lIns="0" tIns="0" rIns="0" bIns="0" anchor="t">
            <a:noAutofit/>
          </a:bodyPr>
          <a:lstStyle/>
          <a:p>
            <a:pPr algn="l">
              <a:defRPr sz="1950" b="0">
                <a:solidFill>
                  <a:srgbClr val="17232D"/>
                </a:solidFill>
                <a:latin typeface="Arial"/>
                <a:ea typeface="Arial"/>
                <a:cs typeface="Arial"/>
              </a:defRPr>
            </a:pPr>
            <a:r>
              <a:rPr sz="1950" b="0">
                <a:solidFill>
                  <a:srgbClr val="17232D"/>
                </a:solidFill>
                <a:latin typeface="Arial"/>
                <a:ea typeface="Arial"/>
                <a:cs typeface="Arial"/>
              </a:rPr>
              <a:t>Espace Linear, HDRI d’origine, matériaux, verre et feuillage ajustés.</a:t>
            </a:r>
          </a:p>
        </p:txBody>
      </p:sp>
      <p:sp>
        <p:nvSpPr>
          <p:cNvPr id="7" name="unity-caption">
            <a:extLst>
              <a:ext uri="{FF2B5EF4-FFF2-40B4-BE49-F238E27FC236}">
                <a16:creationId xmlns:a16="http://schemas.microsoft.com/office/drawing/2014/main" id="{DB9F082E-5798-48C5-A220-246DF2C344FE}"/>
              </a:ext>
            </a:extLst>
          </p:cNvPr>
          <p:cNvSpPr>
            <a:spLocks noGrp="1"/>
          </p:cNvSpPr>
          <p:nvPr/>
        </p:nvSpPr>
        <p:spPr>
          <a:xfrm>
            <a:off x="685800" y="6391275"/>
            <a:ext cx="8572500" cy="266700"/>
          </a:xfrm>
          <a:prstGeom prst="rect">
            <a:avLst/>
          </a:prstGeom>
          <a:noFill/>
          <a:ln w="0">
            <a:noFill/>
          </a:ln>
        </p:spPr>
        <p:txBody>
          <a:bodyPr wrap="square" lIns="0" tIns="0" rIns="0" bIns="0" anchor="t">
            <a:noAutofit/>
          </a:bodyPr>
          <a:lstStyle/>
          <a:p>
            <a:pPr algn="l">
              <a:defRPr sz="1200" b="0">
                <a:solidFill>
                  <a:srgbClr val="4C6574"/>
                </a:solidFill>
                <a:latin typeface="Arial"/>
                <a:ea typeface="Arial"/>
                <a:cs typeface="Arial"/>
              </a:defRPr>
            </a:pPr>
            <a:r>
              <a:rPr sz="1200" b="0">
                <a:solidFill>
                  <a:srgbClr val="4C6574"/>
                </a:solidFill>
                <a:latin typeface="Arial"/>
                <a:ea typeface="Arial"/>
                <a:cs typeface="Arial"/>
              </a:rPr>
              <a:t>Captures de la scène Unity, pas du Quest 3 autonome</a:t>
            </a:r>
          </a:p>
        </p:txBody>
      </p:sp>
    </p:spTree>
    <p:extLst>
      <p:ext uri="{BB962C8B-B14F-4D97-AF65-F5344CB8AC3E}">
        <p14:creationId xmlns:p14="http://schemas.microsoft.com/office/powerpoint/2010/main" val="1298961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6"/>
        </a:solidFill>
        <a:effectLst/>
      </p:bgPr>
    </p:bg>
    <p:spTree>
      <p:nvGrpSpPr>
        <p:cNvPr id="1" name=""/>
        <p:cNvGrpSpPr/>
        <p:nvPr/>
      </p:nvGrpSpPr>
      <p:grpSpPr>
        <a:xfrm>
          <a:off x="0" y="0"/>
          <a:ext cx="0" cy="0"/>
          <a:chOff x="0" y="0"/>
          <a:chExt cx="0" cy="0"/>
        </a:xfrm>
      </p:grpSpPr>
      <p:sp>
        <p:nvSpPr>
          <p:cNvPr id="4" name="title-Validation : Unity et Quest séparés">
            <a:extLst>
              <a:ext uri="{FF2B5EF4-FFF2-40B4-BE49-F238E27FC236}">
                <a16:creationId xmlns:a16="http://schemas.microsoft.com/office/drawing/2014/main" id="{7936DE10-A47C-41F5-83C9-A29EB28E8F99}"/>
              </a:ext>
            </a:extLst>
          </p:cNvPr>
          <p:cNvSpPr>
            <a:spLocks noGrp="1"/>
          </p:cNvSpPr>
          <p:nvPr/>
        </p:nvSpPr>
        <p:spPr>
          <a:xfrm>
            <a:off x="685800" y="552450"/>
            <a:ext cx="10820400" cy="723900"/>
          </a:xfrm>
          <a:prstGeom prst="rect">
            <a:avLst/>
          </a:prstGeom>
          <a:noFill/>
          <a:ln w="0">
            <a:noFill/>
          </a:ln>
        </p:spPr>
        <p:txBody>
          <a:bodyPr wrap="square" lIns="0" tIns="0" rIns="0" bIns="0" anchor="t">
            <a:noAutofit/>
          </a:bodyPr>
          <a:lstStyle/>
          <a:p>
            <a:pPr algn="l">
              <a:defRPr sz="3225" b="1">
                <a:solidFill>
                  <a:srgbClr val="17232D"/>
                </a:solidFill>
                <a:latin typeface="Arial"/>
                <a:ea typeface="Arial"/>
                <a:cs typeface="Arial"/>
              </a:defRPr>
            </a:pPr>
            <a:r>
              <a:rPr sz="3225" b="1">
                <a:solidFill>
                  <a:srgbClr val="17232D"/>
                </a:solidFill>
                <a:latin typeface="Arial"/>
                <a:ea typeface="Arial"/>
                <a:cs typeface="Arial"/>
              </a:rPr>
              <a:t>Validation : Unity et Quest séparés</a:t>
            </a:r>
          </a:p>
        </p:txBody>
      </p:sp>
      <p:graphicFrame>
        <p:nvGraphicFramePr>
          <p:cNvPr id="5" name="Tableau 4"/>
          <p:cNvGraphicFramePr/>
          <p:nvPr>
            <p:extLst>
              <p:ext uri="{D42A27DB-BD31-4B8C-83A1-F6EECF244321}">
                <p14:modId xmlns:p14="http://schemas.microsoft.com/office/powerpoint/2010/main" val="3273277025"/>
              </p:ext>
            </p:extLst>
          </p:nvPr>
        </p:nvGraphicFramePr>
        <p:xfrm>
          <a:off x="685800" y="1590675"/>
          <a:ext cx="10820400" cy="3943350"/>
        </p:xfrm>
        <a:graphic>
          <a:graphicData uri="http://schemas.openxmlformats.org/drawingml/2006/table">
            <a:tbl>
              <a:tblPr/>
              <a:tblGrid>
                <a:gridCol w="2286000">
                  <a:extLst>
                    <a:ext uri="{9D8B030D-6E8A-4147-A177-3AD203B41FA5}">
                      <a16:colId xmlns:a16="http://schemas.microsoft.com/office/drawing/2014/main" val="20000"/>
                    </a:ext>
                  </a:extLst>
                </a:gridCol>
                <a:gridCol w="4591050">
                  <a:extLst>
                    <a:ext uri="{9D8B030D-6E8A-4147-A177-3AD203B41FA5}">
                      <a16:colId xmlns:a16="http://schemas.microsoft.com/office/drawing/2014/main" val="20001"/>
                    </a:ext>
                  </a:extLst>
                </a:gridCol>
                <a:gridCol w="3943350">
                  <a:extLst>
                    <a:ext uri="{9D8B030D-6E8A-4147-A177-3AD203B41FA5}">
                      <a16:colId xmlns:a16="http://schemas.microsoft.com/office/drawing/2014/main" val="20002"/>
                    </a:ext>
                  </a:extLst>
                </a:gridCol>
              </a:tblGrid>
              <a:tr h="788670">
                <a:tc>
                  <a:txBody>
                    <a:bodyPr/>
                    <a:lstStyle/>
                    <a:p>
                      <a:r>
                        <a:rPr sz="1725" b="1">
                          <a:solidFill>
                            <a:srgbClr val="FFFFFF"/>
                          </a:solidFill>
                          <a:latin typeface="Arial"/>
                          <a:ea typeface="Arial"/>
                          <a:cs typeface="Arial"/>
                        </a:rPr>
                        <a:t>Environnement</a:t>
                      </a:r>
                    </a:p>
                  </a:txBody>
                  <a:tcPr anchor="ctr">
                    <a:solidFill>
                      <a:srgbClr val="101923"/>
                    </a:solidFill>
                  </a:tcPr>
                </a:tc>
                <a:tc>
                  <a:txBody>
                    <a:bodyPr/>
                    <a:lstStyle/>
                    <a:p>
                      <a:r>
                        <a:rPr sz="1725" b="1">
                          <a:solidFill>
                            <a:srgbClr val="FFFFFF"/>
                          </a:solidFill>
                          <a:latin typeface="Arial"/>
                          <a:ea typeface="Arial"/>
                          <a:cs typeface="Arial"/>
                        </a:rPr>
                        <a:t>Résultat</a:t>
                      </a:r>
                    </a:p>
                  </a:txBody>
                  <a:tcPr anchor="ctr">
                    <a:solidFill>
                      <a:srgbClr val="101923"/>
                    </a:solidFill>
                  </a:tcPr>
                </a:tc>
                <a:tc>
                  <a:txBody>
                    <a:bodyPr/>
                    <a:lstStyle/>
                    <a:p>
                      <a:r>
                        <a:rPr sz="1725" b="1">
                          <a:solidFill>
                            <a:srgbClr val="FFFFFF"/>
                          </a:solidFill>
                          <a:latin typeface="Arial"/>
                          <a:ea typeface="Arial"/>
                          <a:cs typeface="Arial"/>
                        </a:rPr>
                        <a:t>Portée</a:t>
                      </a:r>
                    </a:p>
                  </a:txBody>
                  <a:tcPr anchor="ctr">
                    <a:solidFill>
                      <a:srgbClr val="101923"/>
                    </a:solidFill>
                  </a:tcPr>
                </a:tc>
                <a:extLst>
                  <a:ext uri="{0D108BD9-81ED-4DB2-BD59-A6C34878D82A}">
                    <a16:rowId xmlns:a16="http://schemas.microsoft.com/office/drawing/2014/main" val="10000"/>
                  </a:ext>
                </a:extLst>
              </a:tr>
              <a:tr h="788670">
                <a:tc>
                  <a:txBody>
                    <a:bodyPr/>
                    <a:lstStyle/>
                    <a:p>
                      <a:r>
                        <a:rPr sz="1650" b="1">
                          <a:solidFill>
                            <a:srgbClr val="267DB1"/>
                          </a:solidFill>
                          <a:latin typeface="Arial"/>
                          <a:ea typeface="Arial"/>
                          <a:cs typeface="Arial"/>
                        </a:rPr>
                        <a:t>Play Mode Unity</a:t>
                      </a:r>
                    </a:p>
                  </a:txBody>
                  <a:tcPr anchor="ctr">
                    <a:solidFill>
                      <a:srgbClr val="FFFFFF"/>
                    </a:solidFill>
                  </a:tcPr>
                </a:tc>
                <a:tc>
                  <a:txBody>
                    <a:bodyPr/>
                    <a:lstStyle/>
                    <a:p>
                      <a:r>
                        <a:rPr sz="1650" b="0">
                          <a:solidFill>
                            <a:srgbClr val="17232D"/>
                          </a:solidFill>
                          <a:latin typeface="Arial"/>
                          <a:ea typeface="Arial"/>
                          <a:cs typeface="Arial"/>
                        </a:rPr>
                        <a:t>5/5 villa, 4/4 navigation</a:t>
                      </a:r>
                    </a:p>
                    <a:p>
                      <a:r>
                        <a:rPr sz="1650" b="0">
                          <a:solidFill>
                            <a:srgbClr val="17232D"/>
                          </a:solidFill>
                          <a:latin typeface="Arial"/>
                          <a:ea typeface="Arial"/>
                          <a:cs typeface="Arial"/>
                        </a:rPr>
                        <a:t>2/2 objets, 3/3 menu</a:t>
                      </a:r>
                    </a:p>
                  </a:txBody>
                  <a:tcPr anchor="ctr">
                    <a:solidFill>
                      <a:srgbClr val="FFFFFF"/>
                    </a:solidFill>
                  </a:tcPr>
                </a:tc>
                <a:tc>
                  <a:txBody>
                    <a:bodyPr/>
                    <a:lstStyle/>
                    <a:p>
                      <a:r>
                        <a:rPr sz="1650" b="0">
                          <a:solidFill>
                            <a:srgbClr val="17232D"/>
                          </a:solidFill>
                          <a:latin typeface="Arial"/>
                          <a:ea typeface="Arial"/>
                          <a:cs typeface="Arial"/>
                        </a:rPr>
                        <a:t>Tests ciblés réussis</a:t>
                      </a:r>
                    </a:p>
                  </a:txBody>
                  <a:tcPr anchor="ctr">
                    <a:solidFill>
                      <a:srgbClr val="FFFFFF"/>
                    </a:solidFill>
                  </a:tcPr>
                </a:tc>
                <a:extLst>
                  <a:ext uri="{0D108BD9-81ED-4DB2-BD59-A6C34878D82A}">
                    <a16:rowId xmlns:a16="http://schemas.microsoft.com/office/drawing/2014/main" val="10001"/>
                  </a:ext>
                </a:extLst>
              </a:tr>
              <a:tr h="788670">
                <a:tc>
                  <a:txBody>
                    <a:bodyPr/>
                    <a:lstStyle/>
                    <a:p>
                      <a:r>
                        <a:rPr sz="1650" b="1">
                          <a:solidFill>
                            <a:srgbClr val="267DB1"/>
                          </a:solidFill>
                          <a:latin typeface="Arial"/>
                          <a:ea typeface="Arial"/>
                          <a:cs typeface="Arial"/>
                        </a:rPr>
                        <a:t>Suite globale</a:t>
                      </a:r>
                    </a:p>
                  </a:txBody>
                  <a:tcPr anchor="ctr">
                    <a:solidFill>
                      <a:srgbClr val="F6F7F6"/>
                    </a:solidFill>
                  </a:tcPr>
                </a:tc>
                <a:tc>
                  <a:txBody>
                    <a:bodyPr/>
                    <a:lstStyle/>
                    <a:p>
                      <a:r>
                        <a:rPr sz="1650" b="0">
                          <a:solidFill>
                            <a:srgbClr val="17232D"/>
                          </a:solidFill>
                          <a:latin typeface="Arial"/>
                          <a:ea typeface="Arial"/>
                          <a:cs typeface="Arial"/>
                        </a:rPr>
                        <a:t>11/14</a:t>
                      </a:r>
                    </a:p>
                  </a:txBody>
                  <a:tcPr anchor="ctr">
                    <a:solidFill>
                      <a:srgbClr val="F6F7F6"/>
                    </a:solidFill>
                  </a:tcPr>
                </a:tc>
                <a:tc>
                  <a:txBody>
                    <a:bodyPr/>
                    <a:lstStyle/>
                    <a:p>
                      <a:r>
                        <a:rPr sz="1650" b="0">
                          <a:solidFill>
                            <a:srgbClr val="17232D"/>
                          </a:solidFill>
                          <a:latin typeface="Arial"/>
                          <a:ea typeface="Arial"/>
                          <a:cs typeface="Arial"/>
                        </a:rPr>
                        <a:t>3 anciens scénarios hors build actif</a:t>
                      </a:r>
                    </a:p>
                  </a:txBody>
                  <a:tcPr anchor="ctr">
                    <a:solidFill>
                      <a:srgbClr val="F6F7F6"/>
                    </a:solidFill>
                  </a:tcPr>
                </a:tc>
                <a:extLst>
                  <a:ext uri="{0D108BD9-81ED-4DB2-BD59-A6C34878D82A}">
                    <a16:rowId xmlns:a16="http://schemas.microsoft.com/office/drawing/2014/main" val="10002"/>
                  </a:ext>
                </a:extLst>
              </a:tr>
              <a:tr h="788670">
                <a:tc>
                  <a:txBody>
                    <a:bodyPr/>
                    <a:lstStyle/>
                    <a:p>
                      <a:r>
                        <a:rPr sz="1650" b="1">
                          <a:solidFill>
                            <a:srgbClr val="267DB1"/>
                          </a:solidFill>
                          <a:latin typeface="Arial"/>
                          <a:ea typeface="Arial"/>
                          <a:cs typeface="Arial"/>
                        </a:rPr>
                        <a:t>Quest Link (PC VR)</a:t>
                      </a:r>
                    </a:p>
                  </a:txBody>
                  <a:tcPr anchor="ctr">
                    <a:solidFill>
                      <a:srgbClr val="FFFFFF"/>
                    </a:solidFill>
                  </a:tcPr>
                </a:tc>
                <a:tc>
                  <a:txBody>
                    <a:bodyPr/>
                    <a:lstStyle/>
                    <a:p>
                      <a:r>
                        <a:rPr sz="1650" b="0" dirty="0" err="1">
                          <a:solidFill>
                            <a:srgbClr val="17232D"/>
                          </a:solidFill>
                          <a:latin typeface="Arial"/>
                          <a:ea typeface="Arial"/>
                          <a:cs typeface="Arial"/>
                        </a:rPr>
                        <a:t>Fonctionnement</a:t>
                      </a:r>
                      <a:r>
                        <a:rPr sz="1650" b="0" dirty="0">
                          <a:solidFill>
                            <a:srgbClr val="17232D"/>
                          </a:solidFill>
                          <a:latin typeface="Arial"/>
                          <a:ea typeface="Arial"/>
                          <a:cs typeface="Arial"/>
                        </a:rPr>
                        <a:t> OK</a:t>
                      </a:r>
                    </a:p>
                  </a:txBody>
                  <a:tcPr anchor="ctr">
                    <a:solidFill>
                      <a:srgbClr val="FFFFFF"/>
                    </a:solidFill>
                  </a:tcPr>
                </a:tc>
                <a:tc>
                  <a:txBody>
                    <a:bodyPr/>
                    <a:lstStyle/>
                    <a:p>
                      <a:r>
                        <a:rPr sz="1650" b="0" dirty="0">
                          <a:solidFill>
                            <a:srgbClr val="17232D"/>
                          </a:solidFill>
                          <a:latin typeface="Arial"/>
                          <a:ea typeface="Arial"/>
                          <a:cs typeface="Arial"/>
                        </a:rPr>
                        <a:t>Essai au casque</a:t>
                      </a:r>
                    </a:p>
                  </a:txBody>
                  <a:tcPr anchor="ctr">
                    <a:solidFill>
                      <a:srgbClr val="FFFFFF"/>
                    </a:solidFill>
                  </a:tcPr>
                </a:tc>
                <a:extLst>
                  <a:ext uri="{0D108BD9-81ED-4DB2-BD59-A6C34878D82A}">
                    <a16:rowId xmlns:a16="http://schemas.microsoft.com/office/drawing/2014/main" val="10003"/>
                  </a:ext>
                </a:extLst>
              </a:tr>
              <a:tr h="788670">
                <a:tc>
                  <a:txBody>
                    <a:bodyPr/>
                    <a:lstStyle/>
                    <a:p>
                      <a:r>
                        <a:rPr sz="1650" b="1">
                          <a:solidFill>
                            <a:srgbClr val="267DB1"/>
                          </a:solidFill>
                          <a:latin typeface="Arial"/>
                          <a:ea typeface="Arial"/>
                          <a:cs typeface="Arial"/>
                        </a:rPr>
                        <a:t>Quest 3 autonome</a:t>
                      </a:r>
                    </a:p>
                  </a:txBody>
                  <a:tcPr anchor="ctr">
                    <a:solidFill>
                      <a:srgbClr val="F6F7F6"/>
                    </a:solidFill>
                  </a:tcPr>
                </a:tc>
                <a:tc>
                  <a:txBody>
                    <a:bodyPr/>
                    <a:lstStyle/>
                    <a:p>
                      <a:r>
                        <a:rPr lang="fr-FR" sz="1650" b="0" dirty="0">
                          <a:solidFill>
                            <a:srgbClr val="17232D"/>
                          </a:solidFill>
                          <a:latin typeface="Arial"/>
                          <a:ea typeface="Arial"/>
                          <a:cs typeface="Arial"/>
                        </a:rPr>
                        <a:t>A Vérifier</a:t>
                      </a:r>
                      <a:endParaRPr sz="1650" b="0" dirty="0">
                        <a:solidFill>
                          <a:srgbClr val="17232D"/>
                        </a:solidFill>
                        <a:latin typeface="Arial"/>
                        <a:ea typeface="Arial"/>
                        <a:cs typeface="Arial"/>
                      </a:endParaRPr>
                    </a:p>
                  </a:txBody>
                  <a:tcPr anchor="ctr">
                    <a:solidFill>
                      <a:srgbClr val="F6F7F6"/>
                    </a:solidFill>
                  </a:tcPr>
                </a:tc>
                <a:tc>
                  <a:txBody>
                    <a:bodyPr/>
                    <a:lstStyle/>
                    <a:p>
                      <a:r>
                        <a:rPr sz="1650" b="0" dirty="0">
                          <a:solidFill>
                            <a:srgbClr val="17232D"/>
                          </a:solidFill>
                          <a:latin typeface="Arial"/>
                          <a:ea typeface="Arial"/>
                          <a:cs typeface="Arial"/>
                        </a:rPr>
                        <a:t>Dernier APK et </a:t>
                      </a:r>
                      <a:r>
                        <a:rPr sz="1650" b="0" dirty="0" err="1">
                          <a:solidFill>
                            <a:srgbClr val="17232D"/>
                          </a:solidFill>
                          <a:latin typeface="Arial"/>
                          <a:ea typeface="Arial"/>
                          <a:cs typeface="Arial"/>
                        </a:rPr>
                        <a:t>fluidité</a:t>
                      </a:r>
                      <a:r>
                        <a:rPr sz="1650" b="0" dirty="0">
                          <a:solidFill>
                            <a:srgbClr val="17232D"/>
                          </a:solidFill>
                          <a:latin typeface="Arial"/>
                          <a:ea typeface="Arial"/>
                          <a:cs typeface="Arial"/>
                        </a:rPr>
                        <a:t> à </a:t>
                      </a:r>
                      <a:r>
                        <a:rPr sz="1650" b="0" dirty="0" err="1">
                          <a:solidFill>
                            <a:srgbClr val="17232D"/>
                          </a:solidFill>
                          <a:latin typeface="Arial"/>
                          <a:ea typeface="Arial"/>
                          <a:cs typeface="Arial"/>
                        </a:rPr>
                        <a:t>contrôler</a:t>
                      </a:r>
                      <a:endParaRPr sz="1650" b="0" dirty="0">
                        <a:solidFill>
                          <a:srgbClr val="17232D"/>
                        </a:solidFill>
                        <a:latin typeface="Arial"/>
                        <a:ea typeface="Arial"/>
                        <a:cs typeface="Arial"/>
                      </a:endParaRPr>
                    </a:p>
                  </a:txBody>
                  <a:tcPr anchor="ctr">
                    <a:solidFill>
                      <a:srgbClr val="F6F7F6"/>
                    </a:solidFill>
                  </a:tcPr>
                </a:tc>
                <a:extLst>
                  <a:ext uri="{0D108BD9-81ED-4DB2-BD59-A6C34878D82A}">
                    <a16:rowId xmlns:a16="http://schemas.microsoft.com/office/drawing/2014/main" val="10004"/>
                  </a:ext>
                </a:extLst>
              </a:tr>
            </a:tbl>
          </a:graphicData>
        </a:graphic>
      </p:graphicFrame>
      <p:sp>
        <p:nvSpPr>
          <p:cNvPr id="3" name="validation-note">
            <a:extLst>
              <a:ext uri="{FF2B5EF4-FFF2-40B4-BE49-F238E27FC236}">
                <a16:creationId xmlns:a16="http://schemas.microsoft.com/office/drawing/2014/main" id="{611A575A-C611-4920-831B-73CBAE2C6407}"/>
              </a:ext>
            </a:extLst>
          </p:cNvPr>
          <p:cNvSpPr>
            <a:spLocks noGrp="1"/>
          </p:cNvSpPr>
          <p:nvPr/>
        </p:nvSpPr>
        <p:spPr>
          <a:xfrm>
            <a:off x="685800" y="5800725"/>
            <a:ext cx="10820400" cy="552450"/>
          </a:xfrm>
          <a:prstGeom prst="rect">
            <a:avLst/>
          </a:prstGeom>
          <a:noFill/>
          <a:ln w="0">
            <a:noFill/>
          </a:ln>
        </p:spPr>
        <p:txBody>
          <a:bodyPr wrap="square" lIns="0" tIns="0" rIns="0" bIns="0" anchor="t">
            <a:noAutofit/>
          </a:bodyPr>
          <a:lstStyle/>
          <a:p>
            <a:pPr algn="l">
              <a:defRPr sz="1500" b="0">
                <a:solidFill>
                  <a:srgbClr val="4C6574"/>
                </a:solidFill>
                <a:latin typeface="Arial"/>
                <a:ea typeface="Arial"/>
                <a:cs typeface="Arial"/>
              </a:defRPr>
            </a:pPr>
            <a:r>
              <a:rPr sz="1500" b="0">
                <a:solidFill>
                  <a:srgbClr val="4C6574"/>
                </a:solidFill>
                <a:latin typeface="Arial"/>
                <a:ea typeface="Arial"/>
                <a:cs typeface="Arial"/>
              </a:rPr>
              <a:t>Le dernier APK autonome reste à identifier et à valider avant la remise.</a:t>
            </a:r>
          </a:p>
        </p:txBody>
      </p:sp>
    </p:spTree>
    <p:extLst>
      <p:ext uri="{BB962C8B-B14F-4D97-AF65-F5344CB8AC3E}">
        <p14:creationId xmlns:p14="http://schemas.microsoft.com/office/powerpoint/2010/main" val="581106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923"/>
        </a:solidFill>
        <a:effectLst/>
      </p:bgPr>
    </p:bg>
    <p:spTree>
      <p:nvGrpSpPr>
        <p:cNvPr id="1" name=""/>
        <p:cNvGrpSpPr/>
        <p:nvPr/>
      </p:nvGrpSpPr>
      <p:grpSpPr>
        <a:xfrm>
          <a:off x="0" y="0"/>
          <a:ext cx="0" cy="0"/>
          <a:chOff x="0" y="0"/>
          <a:chExt cx="0" cy="0"/>
        </a:xfrm>
      </p:grpSpPr>
      <p:sp>
        <p:nvSpPr>
          <p:cNvPr id="9" name="title-Pour finaliser la remise">
            <a:extLst>
              <a:ext uri="{FF2B5EF4-FFF2-40B4-BE49-F238E27FC236}">
                <a16:creationId xmlns:a16="http://schemas.microsoft.com/office/drawing/2014/main" id="{EA419EB7-DBB5-400F-A38F-C598B47758CB}"/>
              </a:ext>
            </a:extLst>
          </p:cNvPr>
          <p:cNvSpPr>
            <a:spLocks noGrp="1"/>
          </p:cNvSpPr>
          <p:nvPr/>
        </p:nvSpPr>
        <p:spPr>
          <a:xfrm>
            <a:off x="685800" y="552450"/>
            <a:ext cx="10820400" cy="723900"/>
          </a:xfrm>
          <a:prstGeom prst="rect">
            <a:avLst/>
          </a:prstGeom>
          <a:noFill/>
          <a:ln w="0">
            <a:noFill/>
          </a:ln>
        </p:spPr>
        <p:txBody>
          <a:bodyPr wrap="square" lIns="0" tIns="0" rIns="0" bIns="0" anchor="t">
            <a:noAutofit/>
          </a:bodyPr>
          <a:lstStyle/>
          <a:p>
            <a:pPr algn="l">
              <a:defRPr sz="3225" b="1">
                <a:solidFill>
                  <a:srgbClr val="FFFFFF"/>
                </a:solidFill>
                <a:latin typeface="Arial"/>
                <a:ea typeface="Arial"/>
                <a:cs typeface="Arial"/>
              </a:defRPr>
            </a:pPr>
            <a:r>
              <a:rPr sz="3225" b="1">
                <a:solidFill>
                  <a:srgbClr val="FFFFFF"/>
                </a:solidFill>
                <a:latin typeface="Arial"/>
                <a:ea typeface="Arial"/>
                <a:cs typeface="Arial"/>
              </a:rPr>
              <a:t>Pour finaliser la remise</a:t>
            </a:r>
          </a:p>
        </p:txBody>
      </p:sp>
      <p:sp>
        <p:nvSpPr>
          <p:cNvPr id="2" name="final-1">
            <a:extLst>
              <a:ext uri="{FF2B5EF4-FFF2-40B4-BE49-F238E27FC236}">
                <a16:creationId xmlns:a16="http://schemas.microsoft.com/office/drawing/2014/main" id="{881E91F7-18CC-41EB-83B1-A28FC8BECE19}"/>
              </a:ext>
            </a:extLst>
          </p:cNvPr>
          <p:cNvSpPr>
            <a:spLocks noGrp="1"/>
          </p:cNvSpPr>
          <p:nvPr/>
        </p:nvSpPr>
        <p:spPr>
          <a:xfrm>
            <a:off x="685800" y="1619250"/>
            <a:ext cx="4857750" cy="381000"/>
          </a:xfrm>
          <a:prstGeom prst="rect">
            <a:avLst/>
          </a:prstGeom>
          <a:noFill/>
          <a:ln w="0">
            <a:noFill/>
          </a:ln>
        </p:spPr>
        <p:txBody>
          <a:bodyPr wrap="square" lIns="0" tIns="0" rIns="0" bIns="0" anchor="t">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Quest 3 autonome</a:t>
            </a:r>
          </a:p>
        </p:txBody>
      </p:sp>
      <p:sp>
        <p:nvSpPr>
          <p:cNvPr id="3" name="final-1-body">
            <a:extLst>
              <a:ext uri="{FF2B5EF4-FFF2-40B4-BE49-F238E27FC236}">
                <a16:creationId xmlns:a16="http://schemas.microsoft.com/office/drawing/2014/main" id="{12ADFD2D-AE57-4472-9BB0-4FA50D82BC60}"/>
              </a:ext>
            </a:extLst>
          </p:cNvPr>
          <p:cNvSpPr>
            <a:spLocks noGrp="1"/>
          </p:cNvSpPr>
          <p:nvPr/>
        </p:nvSpPr>
        <p:spPr>
          <a:xfrm>
            <a:off x="685800" y="2038350"/>
            <a:ext cx="10382250" cy="571500"/>
          </a:xfrm>
          <a:prstGeom prst="rect">
            <a:avLst/>
          </a:prstGeom>
          <a:noFill/>
          <a:ln w="0">
            <a:noFill/>
          </a:ln>
        </p:spPr>
        <p:txBody>
          <a:bodyPr wrap="square" lIns="0" tIns="0" rIns="0" bIns="0" anchor="t">
            <a:noAutofit/>
          </a:bodyPr>
          <a:lstStyle/>
          <a:p>
            <a:pPr algn="l">
              <a:defRPr sz="1725" b="0">
                <a:solidFill>
                  <a:srgbClr val="DCE8EE"/>
                </a:solidFill>
                <a:latin typeface="Arial"/>
                <a:ea typeface="Arial"/>
                <a:cs typeface="Arial"/>
              </a:defRPr>
            </a:pPr>
            <a:r>
              <a:rPr sz="1725" b="0" dirty="0" err="1">
                <a:solidFill>
                  <a:srgbClr val="DCE8EE"/>
                </a:solidFill>
                <a:latin typeface="Arial"/>
                <a:ea typeface="Arial"/>
                <a:cs typeface="Arial"/>
              </a:rPr>
              <a:t>Parcours</a:t>
            </a:r>
            <a:r>
              <a:rPr sz="1725" b="0" dirty="0">
                <a:solidFill>
                  <a:srgbClr val="DCE8EE"/>
                </a:solidFill>
                <a:latin typeface="Arial"/>
                <a:ea typeface="Arial"/>
                <a:cs typeface="Arial"/>
              </a:rPr>
              <a:t> </a:t>
            </a:r>
            <a:r>
              <a:rPr sz="1725" b="0" dirty="0" err="1">
                <a:solidFill>
                  <a:srgbClr val="DCE8EE"/>
                </a:solidFill>
                <a:latin typeface="Arial"/>
                <a:ea typeface="Arial"/>
                <a:cs typeface="Arial"/>
              </a:rPr>
              <a:t>complet</a:t>
            </a:r>
            <a:r>
              <a:rPr sz="1725" b="0" dirty="0">
                <a:solidFill>
                  <a:srgbClr val="DCE8EE"/>
                </a:solidFill>
                <a:latin typeface="Arial"/>
                <a:ea typeface="Arial"/>
                <a:cs typeface="Arial"/>
              </a:rPr>
              <a:t>, </a:t>
            </a:r>
            <a:r>
              <a:rPr sz="1725" b="0" dirty="0" err="1">
                <a:solidFill>
                  <a:srgbClr val="DCE8EE"/>
                </a:solidFill>
                <a:latin typeface="Arial"/>
                <a:ea typeface="Arial"/>
                <a:cs typeface="Arial"/>
              </a:rPr>
              <a:t>confort</a:t>
            </a:r>
            <a:r>
              <a:rPr sz="1725" b="0" dirty="0">
                <a:solidFill>
                  <a:srgbClr val="DCE8EE"/>
                </a:solidFill>
                <a:latin typeface="Arial"/>
                <a:ea typeface="Arial"/>
                <a:cs typeface="Arial"/>
              </a:rPr>
              <a:t> et </a:t>
            </a:r>
            <a:r>
              <a:rPr sz="1725" b="0" dirty="0" err="1">
                <a:solidFill>
                  <a:srgbClr val="DCE8EE"/>
                </a:solidFill>
                <a:latin typeface="Arial"/>
                <a:ea typeface="Arial"/>
                <a:cs typeface="Arial"/>
              </a:rPr>
              <a:t>fluidité</a:t>
            </a:r>
            <a:endParaRPr sz="1725" b="0" dirty="0">
              <a:solidFill>
                <a:srgbClr val="DCE8EE"/>
              </a:solidFill>
              <a:latin typeface="Arial"/>
              <a:ea typeface="Arial"/>
              <a:cs typeface="Arial"/>
            </a:endParaRPr>
          </a:p>
        </p:txBody>
      </p:sp>
      <p:sp>
        <p:nvSpPr>
          <p:cNvPr id="4" name="final-2">
            <a:extLst>
              <a:ext uri="{FF2B5EF4-FFF2-40B4-BE49-F238E27FC236}">
                <a16:creationId xmlns:a16="http://schemas.microsoft.com/office/drawing/2014/main" id="{4236D6D9-7232-474A-AFC4-6647017ED8B1}"/>
              </a:ext>
            </a:extLst>
          </p:cNvPr>
          <p:cNvSpPr>
            <a:spLocks noGrp="1"/>
          </p:cNvSpPr>
          <p:nvPr/>
        </p:nvSpPr>
        <p:spPr>
          <a:xfrm>
            <a:off x="685800" y="2952750"/>
            <a:ext cx="4857750" cy="381000"/>
          </a:xfrm>
          <a:prstGeom prst="rect">
            <a:avLst/>
          </a:prstGeom>
          <a:noFill/>
          <a:ln w="0">
            <a:noFill/>
          </a:ln>
        </p:spPr>
        <p:txBody>
          <a:bodyPr wrap="square" lIns="0" tIns="0" rIns="0" bIns="0" anchor="t">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Crédits des ressources</a:t>
            </a:r>
          </a:p>
        </p:txBody>
      </p:sp>
      <p:sp>
        <p:nvSpPr>
          <p:cNvPr id="5" name="final-2-body">
            <a:extLst>
              <a:ext uri="{FF2B5EF4-FFF2-40B4-BE49-F238E27FC236}">
                <a16:creationId xmlns:a16="http://schemas.microsoft.com/office/drawing/2014/main" id="{3C5078AC-8939-4C4D-8988-015A3B9165D6}"/>
              </a:ext>
            </a:extLst>
          </p:cNvPr>
          <p:cNvSpPr>
            <a:spLocks noGrp="1"/>
          </p:cNvSpPr>
          <p:nvPr/>
        </p:nvSpPr>
        <p:spPr>
          <a:xfrm>
            <a:off x="685800" y="3371850"/>
            <a:ext cx="10477500" cy="876300"/>
          </a:xfrm>
          <a:prstGeom prst="rect">
            <a:avLst/>
          </a:prstGeom>
          <a:noFill/>
          <a:ln w="0">
            <a:noFill/>
          </a:ln>
        </p:spPr>
        <p:txBody>
          <a:bodyPr wrap="square" lIns="0" tIns="0" rIns="0" bIns="0" anchor="t">
            <a:noAutofit/>
          </a:bodyPr>
          <a:lstStyle/>
          <a:p>
            <a:pPr algn="l">
              <a:defRPr sz="1725" b="0">
                <a:solidFill>
                  <a:srgbClr val="DCE8EE"/>
                </a:solidFill>
                <a:latin typeface="Arial"/>
                <a:ea typeface="Arial"/>
                <a:cs typeface="Arial"/>
              </a:defRPr>
            </a:pPr>
            <a:r>
              <a:rPr sz="1725" b="0" dirty="0">
                <a:solidFill>
                  <a:srgbClr val="DCE8EE"/>
                </a:solidFill>
                <a:latin typeface="Arial"/>
                <a:ea typeface="Arial"/>
                <a:cs typeface="Arial"/>
              </a:rPr>
              <a:t>Villa : acrts076, </a:t>
            </a:r>
            <a:r>
              <a:rPr sz="1725" b="0" dirty="0" err="1">
                <a:solidFill>
                  <a:srgbClr val="DCE8EE"/>
                </a:solidFill>
                <a:latin typeface="Arial"/>
                <a:ea typeface="Arial"/>
                <a:cs typeface="Arial"/>
              </a:rPr>
              <a:t>CGTrader</a:t>
            </a:r>
            <a:r>
              <a:rPr sz="1725" b="0" dirty="0">
                <a:solidFill>
                  <a:srgbClr val="DCE8EE"/>
                </a:solidFill>
                <a:latin typeface="Arial"/>
                <a:ea typeface="Arial"/>
                <a:cs typeface="Arial"/>
              </a:rPr>
              <a:t> #6876788, Royalty Free License (no AI).</a:t>
            </a:r>
          </a:p>
        </p:txBody>
      </p:sp>
      <p:sp>
        <p:nvSpPr>
          <p:cNvPr id="6" name="final-3">
            <a:extLst>
              <a:ext uri="{FF2B5EF4-FFF2-40B4-BE49-F238E27FC236}">
                <a16:creationId xmlns:a16="http://schemas.microsoft.com/office/drawing/2014/main" id="{3DEA5C0E-863D-4643-BDF5-3EB0B19D141B}"/>
              </a:ext>
            </a:extLst>
          </p:cNvPr>
          <p:cNvSpPr>
            <a:spLocks noGrp="1"/>
          </p:cNvSpPr>
          <p:nvPr/>
        </p:nvSpPr>
        <p:spPr>
          <a:xfrm>
            <a:off x="685800" y="4657725"/>
            <a:ext cx="4857750" cy="381000"/>
          </a:xfrm>
          <a:prstGeom prst="rect">
            <a:avLst/>
          </a:prstGeom>
          <a:noFill/>
          <a:ln w="0">
            <a:noFill/>
          </a:ln>
        </p:spPr>
        <p:txBody>
          <a:bodyPr wrap="square" lIns="0" tIns="0" rIns="0" bIns="0" anchor="t">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Vidéo promotionnelle</a:t>
            </a:r>
          </a:p>
        </p:txBody>
      </p:sp>
      <p:sp>
        <p:nvSpPr>
          <p:cNvPr id="7" name="final-3-body">
            <a:extLst>
              <a:ext uri="{FF2B5EF4-FFF2-40B4-BE49-F238E27FC236}">
                <a16:creationId xmlns:a16="http://schemas.microsoft.com/office/drawing/2014/main" id="{CC9FB500-339E-44DD-A031-12B708A35E81}"/>
              </a:ext>
            </a:extLst>
          </p:cNvPr>
          <p:cNvSpPr>
            <a:spLocks noGrp="1"/>
          </p:cNvSpPr>
          <p:nvPr/>
        </p:nvSpPr>
        <p:spPr>
          <a:xfrm>
            <a:off x="685800" y="5076825"/>
            <a:ext cx="10477500" cy="685800"/>
          </a:xfrm>
          <a:prstGeom prst="rect">
            <a:avLst/>
          </a:prstGeom>
          <a:noFill/>
          <a:ln w="0">
            <a:noFill/>
          </a:ln>
        </p:spPr>
        <p:txBody>
          <a:bodyPr wrap="square" lIns="0" tIns="0" rIns="0" bIns="0" anchor="t">
            <a:noAutofit/>
          </a:bodyPr>
          <a:lstStyle/>
          <a:p>
            <a:pPr algn="l">
              <a:defRPr sz="1725" b="0">
                <a:solidFill>
                  <a:srgbClr val="DCE8EE"/>
                </a:solidFill>
                <a:latin typeface="Arial"/>
                <a:ea typeface="Arial"/>
                <a:cs typeface="Arial"/>
              </a:defRPr>
            </a:pPr>
            <a:r>
              <a:rPr sz="1725" b="0" dirty="0" err="1">
                <a:solidFill>
                  <a:srgbClr val="DCE8EE"/>
                </a:solidFill>
                <a:latin typeface="Arial"/>
                <a:ea typeface="Arial"/>
                <a:cs typeface="Arial"/>
              </a:rPr>
              <a:t>Vidéo</a:t>
            </a:r>
            <a:r>
              <a:rPr sz="1725" b="0" dirty="0">
                <a:solidFill>
                  <a:srgbClr val="DCE8EE"/>
                </a:solidFill>
                <a:latin typeface="Arial"/>
                <a:ea typeface="Arial"/>
                <a:cs typeface="Arial"/>
              </a:rPr>
              <a:t> disponible hors du dossier du </a:t>
            </a:r>
            <a:r>
              <a:rPr sz="1725" b="0" dirty="0" err="1">
                <a:solidFill>
                  <a:srgbClr val="DCE8EE"/>
                </a:solidFill>
                <a:latin typeface="Arial"/>
                <a:ea typeface="Arial"/>
                <a:cs typeface="Arial"/>
              </a:rPr>
              <a:t>projet</a:t>
            </a:r>
            <a:r>
              <a:rPr sz="1725" b="0" dirty="0">
                <a:solidFill>
                  <a:srgbClr val="DCE8EE"/>
                </a:solidFill>
                <a:latin typeface="Arial"/>
                <a:ea typeface="Arial"/>
                <a:cs typeface="Arial"/>
              </a:rPr>
              <a:t>.</a:t>
            </a:r>
          </a:p>
        </p:txBody>
      </p:sp>
      <p:sp>
        <p:nvSpPr>
          <p:cNvPr id="8" name="final-conclusion">
            <a:extLst>
              <a:ext uri="{FF2B5EF4-FFF2-40B4-BE49-F238E27FC236}">
                <a16:creationId xmlns:a16="http://schemas.microsoft.com/office/drawing/2014/main" id="{CC88FF3A-C036-4079-A85C-0983BA6FBB71}"/>
              </a:ext>
            </a:extLst>
          </p:cNvPr>
          <p:cNvSpPr>
            <a:spLocks noGrp="1"/>
          </p:cNvSpPr>
          <p:nvPr/>
        </p:nvSpPr>
        <p:spPr>
          <a:xfrm>
            <a:off x="685800" y="5915025"/>
            <a:ext cx="10820400" cy="666750"/>
          </a:xfrm>
          <a:prstGeom prst="rect">
            <a:avLst/>
          </a:prstGeom>
          <a:noFill/>
          <a:ln w="0">
            <a:noFill/>
          </a:ln>
        </p:spPr>
        <p:txBody>
          <a:bodyPr wrap="square" lIns="0" tIns="0" rIns="0" bIns="0" anchor="t">
            <a:noAutofit/>
          </a:bodyPr>
          <a:lstStyle/>
          <a:p>
            <a:pPr algn="l">
              <a:defRPr sz="1725" b="1">
                <a:solidFill>
                  <a:srgbClr val="FFFFFF"/>
                </a:solidFill>
                <a:latin typeface="Arial"/>
                <a:ea typeface="Arial"/>
                <a:cs typeface="Arial"/>
              </a:defRPr>
            </a:pPr>
            <a:endParaRPr sz="1725" b="1" dirty="0">
              <a:solidFill>
                <a:srgbClr val="FFFFFF"/>
              </a:solidFill>
              <a:latin typeface="Arial"/>
              <a:ea typeface="Arial"/>
              <a:cs typeface="Arial"/>
            </a:endParaRPr>
          </a:p>
        </p:txBody>
      </p:sp>
    </p:spTree>
    <p:extLst>
      <p:ext uri="{BB962C8B-B14F-4D97-AF65-F5344CB8AC3E}">
        <p14:creationId xmlns:p14="http://schemas.microsoft.com/office/powerpoint/2010/main" val="6985929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1555</Words>
  <Application>Microsoft Office PowerPoint</Application>
  <DocSecurity>0</DocSecurity>
  <PresentationFormat>Grand écran</PresentationFormat>
  <Paragraphs>99</Paragraphs>
  <Slides>10</Slides>
  <Notes>10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10</vt:i4>
      </vt:variant>
    </vt:vector>
  </HeadingPairs>
  <TitlesOfParts>
    <vt:vector size="13" baseType="lpstr">
      <vt:lpstr>Aptos</vt:lpstr>
      <vt:lpstr>Arial</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Alexis G</cp:lastModifiedBy>
  <cp:revision>1</cp:revision>
  <dcterms:created xsi:type="dcterms:W3CDTF">2026-09-25T02:25:58Z</dcterms:created>
  <dcterms:modified xsi:type="dcterms:W3CDTF">2026-09-25T11:36:25Z</dcterms:modified>
</cp:coreProperties>
</file>